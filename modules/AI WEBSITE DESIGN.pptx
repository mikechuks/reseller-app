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67" r:id="rId4"/>
    <p:sldId id="258" r:id="rId5"/>
    <p:sldId id="268" r:id="rId6"/>
    <p:sldId id="260" r:id="rId7"/>
    <p:sldId id="261" r:id="rId8"/>
    <p:sldId id="269" r:id="rId9"/>
    <p:sldId id="263" r:id="rId10"/>
    <p:sldId id="270" r:id="rId11"/>
    <p:sldId id="271" r:id="rId12"/>
    <p:sldId id="264" r:id="rId13"/>
    <p:sldId id="272" r:id="rId14"/>
    <p:sldId id="265" r:id="rId15"/>
    <p:sldId id="273" r:id="rId16"/>
    <p:sldId id="274" r:id="rId17"/>
    <p:sldId id="275" r:id="rId18"/>
    <p:sldId id="276" r:id="rId19"/>
    <p:sldId id="277" r:id="rId20"/>
    <p:sldId id="278" r:id="rId21"/>
    <p:sldId id="279" r:id="rId22"/>
    <p:sldId id="280" r:id="rId23"/>
    <p:sldId id="281" r:id="rId24"/>
    <p:sldId id="282" r:id="rId25"/>
    <p:sldId id="283" r:id="rId26"/>
    <p:sldId id="284" r:id="rId27"/>
    <p:sldId id="285" r:id="rId28"/>
    <p:sldId id="286" r:id="rId29"/>
    <p:sldId id="287" r:id="rId30"/>
    <p:sldId id="288" r:id="rId31"/>
    <p:sldId id="289" r:id="rId32"/>
    <p:sldId id="290" r:id="rId33"/>
    <p:sldId id="266" r:id="rId34"/>
  </p:sldIdLst>
  <p:sldSz cx="18288000" cy="10287000"/>
  <p:notesSz cx="6858000" cy="9144000"/>
  <p:embeddedFontLst>
    <p:embeddedFont>
      <p:font typeface="Calibri" panose="020F0502020204030204" pitchFamily="34" charset="0"/>
      <p:regular r:id="rId35"/>
      <p:bold r:id="rId36"/>
      <p:italic r:id="rId37"/>
      <p:boldItalic r:id="rId38"/>
    </p:embeddedFont>
    <p:embeddedFont>
      <p:font typeface="Poppins" panose="020B0604020202020204" charset="0"/>
      <p:regular r:id="rId39"/>
    </p:embeddedFont>
    <p:embeddedFont>
      <p:font typeface="Poppins Bold" panose="020B0604020202020204" charset="0"/>
      <p:regular r:id="rId40"/>
      <p:bold r:id="rId4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525" autoAdjust="0"/>
    <p:restoredTop sz="94622" autoAdjust="0"/>
  </p:normalViewPr>
  <p:slideViewPr>
    <p:cSldViewPr>
      <p:cViewPr varScale="1">
        <p:scale>
          <a:sx n="43" d="100"/>
          <a:sy n="43" d="100"/>
        </p:scale>
        <p:origin x="740" y="-26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3.fntdata"/><Relationship Id="rId40" Type="http://schemas.openxmlformats.org/officeDocument/2006/relationships/font" Target="fonts/font6.fntdata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1.fntdata"/><Relationship Id="rId43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3" Type="http://schemas.openxmlformats.org/officeDocument/2006/relationships/image" Target="../media/image5.png"/><Relationship Id="rId7" Type="http://schemas.openxmlformats.org/officeDocument/2006/relationships/image" Target="../media/image7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6.png"/><Relationship Id="rId4" Type="http://schemas.openxmlformats.org/officeDocument/2006/relationships/image" Target="../media/image2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3" Type="http://schemas.openxmlformats.org/officeDocument/2006/relationships/image" Target="../media/image5.png"/><Relationship Id="rId7" Type="http://schemas.openxmlformats.org/officeDocument/2006/relationships/image" Target="../media/image7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6.png"/><Relationship Id="rId4" Type="http://schemas.openxmlformats.org/officeDocument/2006/relationships/image" Target="../media/image2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7" Type="http://schemas.openxmlformats.org/officeDocument/2006/relationships/image" Target="../media/image5.sv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2.sv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7" Type="http://schemas.openxmlformats.org/officeDocument/2006/relationships/image" Target="../media/image5.sv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2.sv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5.sv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11.jpeg"/><Relationship Id="rId4" Type="http://schemas.openxmlformats.org/officeDocument/2006/relationships/image" Target="../media/image2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3" Type="http://schemas.openxmlformats.org/officeDocument/2006/relationships/image" Target="../media/image2.svg"/><Relationship Id="rId7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13.png"/><Relationship Id="rId4" Type="http://schemas.openxmlformats.org/officeDocument/2006/relationships/image" Target="../media/image12.jpe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3" Type="http://schemas.openxmlformats.org/officeDocument/2006/relationships/image" Target="../media/image2.svg"/><Relationship Id="rId7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13.png"/><Relationship Id="rId4" Type="http://schemas.openxmlformats.org/officeDocument/2006/relationships/image" Target="../media/image12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7" Type="http://schemas.openxmlformats.org/officeDocument/2006/relationships/image" Target="../media/image23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5.sv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7" Type="http://schemas.openxmlformats.org/officeDocument/2006/relationships/image" Target="../media/image23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5.sv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7" Type="http://schemas.openxmlformats.org/officeDocument/2006/relationships/image" Target="../media/image23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5.sv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3" Type="http://schemas.openxmlformats.org/officeDocument/2006/relationships/image" Target="../media/image2.svg"/><Relationship Id="rId7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13.png"/><Relationship Id="rId4" Type="http://schemas.openxmlformats.org/officeDocument/2006/relationships/image" Target="../media/image15.jpe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3" Type="http://schemas.openxmlformats.org/officeDocument/2006/relationships/image" Target="../media/image2.svg"/><Relationship Id="rId7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13.png"/><Relationship Id="rId4" Type="http://schemas.openxmlformats.org/officeDocument/2006/relationships/image" Target="../media/image15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5.sv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17.jpeg"/><Relationship Id="rId4" Type="http://schemas.openxmlformats.org/officeDocument/2006/relationships/image" Target="../media/image2.sv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3" Type="http://schemas.openxmlformats.org/officeDocument/2006/relationships/image" Target="../media/image5.png"/><Relationship Id="rId7" Type="http://schemas.openxmlformats.org/officeDocument/2006/relationships/image" Target="../media/image7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6.png"/><Relationship Id="rId4" Type="http://schemas.openxmlformats.org/officeDocument/2006/relationships/image" Target="../media/image2.sv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3" Type="http://schemas.openxmlformats.org/officeDocument/2006/relationships/image" Target="../media/image5.png"/><Relationship Id="rId7" Type="http://schemas.openxmlformats.org/officeDocument/2006/relationships/image" Target="../media/image7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6.png"/><Relationship Id="rId4" Type="http://schemas.openxmlformats.org/officeDocument/2006/relationships/image" Target="../media/image2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7" Type="http://schemas.openxmlformats.org/officeDocument/2006/relationships/image" Target="../media/image5.sv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2.svg"/><Relationship Id="rId4" Type="http://schemas.openxmlformats.org/officeDocument/2006/relationships/image" Target="../media/image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7" Type="http://schemas.openxmlformats.org/officeDocument/2006/relationships/image" Target="../media/image5.sv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2.svg"/><Relationship Id="rId4" Type="http://schemas.openxmlformats.org/officeDocument/2006/relationships/image" Target="../media/image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5.sv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11.jpeg"/><Relationship Id="rId4" Type="http://schemas.openxmlformats.org/officeDocument/2006/relationships/image" Target="../media/image2.sv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3" Type="http://schemas.openxmlformats.org/officeDocument/2006/relationships/image" Target="../media/image2.svg"/><Relationship Id="rId7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13.png"/><Relationship Id="rId4" Type="http://schemas.openxmlformats.org/officeDocument/2006/relationships/image" Target="../media/image12.jpe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3" Type="http://schemas.openxmlformats.org/officeDocument/2006/relationships/image" Target="../media/image2.svg"/><Relationship Id="rId7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13.png"/><Relationship Id="rId4" Type="http://schemas.openxmlformats.org/officeDocument/2006/relationships/image" Target="../media/image12.jpe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7" Type="http://schemas.openxmlformats.org/officeDocument/2006/relationships/image" Target="../media/image23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5.svg"/><Relationship Id="rId4" Type="http://schemas.openxmlformats.org/officeDocument/2006/relationships/image" Target="../media/image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7" Type="http://schemas.openxmlformats.org/officeDocument/2006/relationships/image" Target="../media/image23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5.svg"/><Relationship Id="rId4" Type="http://schemas.openxmlformats.org/officeDocument/2006/relationships/image" Target="../media/image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7" Type="http://schemas.openxmlformats.org/officeDocument/2006/relationships/image" Target="../media/image23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5.svg"/><Relationship Id="rId4" Type="http://schemas.openxmlformats.org/officeDocument/2006/relationships/image" Target="../media/image7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3" Type="http://schemas.openxmlformats.org/officeDocument/2006/relationships/image" Target="../media/image2.svg"/><Relationship Id="rId7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13.png"/><Relationship Id="rId4" Type="http://schemas.openxmlformats.org/officeDocument/2006/relationships/image" Target="../media/image15.jpe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3" Type="http://schemas.openxmlformats.org/officeDocument/2006/relationships/image" Target="../media/image2.svg"/><Relationship Id="rId7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13.png"/><Relationship Id="rId4" Type="http://schemas.openxmlformats.org/officeDocument/2006/relationships/image" Target="../media/image15.jpe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5.sv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17.jpeg"/><Relationship Id="rId4" Type="http://schemas.openxmlformats.org/officeDocument/2006/relationships/image" Target="../media/image2.sv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3" Type="http://schemas.openxmlformats.org/officeDocument/2006/relationships/image" Target="../media/image5.png"/><Relationship Id="rId7" Type="http://schemas.openxmlformats.org/officeDocument/2006/relationships/image" Target="../media/image7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6.png"/><Relationship Id="rId4" Type="http://schemas.openxmlformats.org/officeDocument/2006/relationships/image" Target="../media/image2.sv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3" Type="http://schemas.openxmlformats.org/officeDocument/2006/relationships/image" Target="../media/image5.png"/><Relationship Id="rId7" Type="http://schemas.openxmlformats.org/officeDocument/2006/relationships/image" Target="../media/image7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6.png"/><Relationship Id="rId4" Type="http://schemas.openxmlformats.org/officeDocument/2006/relationships/image" Target="../media/image2.sv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7" Type="http://schemas.openxmlformats.org/officeDocument/2006/relationships/image" Target="../media/image5.sv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2.svg"/><Relationship Id="rId4" Type="http://schemas.openxmlformats.org/officeDocument/2006/relationships/image" Target="../media/image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7" Type="http://schemas.openxmlformats.org/officeDocument/2006/relationships/image" Target="../media/image5.sv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2.svg"/><Relationship Id="rId4" Type="http://schemas.openxmlformats.org/officeDocument/2006/relationships/image" Target="../media/image5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5.sv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11.jpeg"/><Relationship Id="rId4" Type="http://schemas.openxmlformats.org/officeDocument/2006/relationships/image" Target="../media/image2.sv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sv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368171">
            <a:off x="2537321" y="2712494"/>
            <a:ext cx="8325708" cy="7947266"/>
          </a:xfrm>
          <a:custGeom>
            <a:avLst/>
            <a:gdLst/>
            <a:ahLst/>
            <a:cxnLst/>
            <a:rect l="l" t="t" r="r" b="b"/>
            <a:pathLst>
              <a:path w="8325708" h="7947266">
                <a:moveTo>
                  <a:pt x="0" y="0"/>
                </a:moveTo>
                <a:lnTo>
                  <a:pt x="8325707" y="0"/>
                </a:lnTo>
                <a:lnTo>
                  <a:pt x="8325707" y="7947267"/>
                </a:lnTo>
                <a:lnTo>
                  <a:pt x="0" y="79472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8999"/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72000" y="5143500"/>
            <a:ext cx="7344135" cy="755647"/>
            <a:chOff x="0" y="0"/>
            <a:chExt cx="1511139" cy="155483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511139" cy="155483"/>
            </a:xfrm>
            <a:custGeom>
              <a:avLst/>
              <a:gdLst/>
              <a:ahLst/>
              <a:cxnLst/>
              <a:rect l="l" t="t" r="r" b="b"/>
              <a:pathLst>
                <a:path w="1511139" h="155483">
                  <a:moveTo>
                    <a:pt x="77742" y="0"/>
                  </a:moveTo>
                  <a:lnTo>
                    <a:pt x="1433397" y="0"/>
                  </a:lnTo>
                  <a:cubicBezTo>
                    <a:pt x="1454016" y="0"/>
                    <a:pt x="1473789" y="8191"/>
                    <a:pt x="1488369" y="22770"/>
                  </a:cubicBezTo>
                  <a:cubicBezTo>
                    <a:pt x="1502948" y="37349"/>
                    <a:pt x="1511139" y="57123"/>
                    <a:pt x="1511139" y="77742"/>
                  </a:cubicBezTo>
                  <a:lnTo>
                    <a:pt x="1511139" y="77742"/>
                  </a:lnTo>
                  <a:cubicBezTo>
                    <a:pt x="1511139" y="120677"/>
                    <a:pt x="1476333" y="155483"/>
                    <a:pt x="1433397" y="155483"/>
                  </a:cubicBezTo>
                  <a:lnTo>
                    <a:pt x="77742" y="155483"/>
                  </a:lnTo>
                  <a:cubicBezTo>
                    <a:pt x="57123" y="155483"/>
                    <a:pt x="37349" y="147292"/>
                    <a:pt x="22770" y="132713"/>
                  </a:cubicBezTo>
                  <a:cubicBezTo>
                    <a:pt x="8191" y="118134"/>
                    <a:pt x="0" y="98360"/>
                    <a:pt x="0" y="77742"/>
                  </a:cubicBezTo>
                  <a:lnTo>
                    <a:pt x="0" y="77742"/>
                  </a:lnTo>
                  <a:cubicBezTo>
                    <a:pt x="0" y="57123"/>
                    <a:pt x="8191" y="37349"/>
                    <a:pt x="22770" y="22770"/>
                  </a:cubicBezTo>
                  <a:cubicBezTo>
                    <a:pt x="37349" y="8191"/>
                    <a:pt x="57123" y="0"/>
                    <a:pt x="77742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511139" cy="1935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0854213" y="-1661893"/>
            <a:ext cx="9460517" cy="9460517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1155667" y="2125663"/>
            <a:ext cx="6791321" cy="6791321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4"/>
              <a:stretch>
                <a:fillRect l="-27517" r="-55815"/>
              </a:stretch>
            </a:blipFill>
          </p:spPr>
        </p:sp>
      </p:grpSp>
      <p:grpSp>
        <p:nvGrpSpPr>
          <p:cNvPr id="11" name="Group 11"/>
          <p:cNvGrpSpPr/>
          <p:nvPr/>
        </p:nvGrpSpPr>
        <p:grpSpPr>
          <a:xfrm>
            <a:off x="-844289" y="8822784"/>
            <a:ext cx="7425704" cy="7425704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2728668" y="-2824047"/>
            <a:ext cx="3852747" cy="3852747"/>
            <a:chOff x="0" y="0"/>
            <a:chExt cx="812800" cy="8128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17" name="Freeform 17"/>
          <p:cNvSpPr/>
          <p:nvPr/>
        </p:nvSpPr>
        <p:spPr>
          <a:xfrm>
            <a:off x="15628197" y="-2170445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8" name="Freeform 18"/>
          <p:cNvSpPr/>
          <p:nvPr/>
        </p:nvSpPr>
        <p:spPr>
          <a:xfrm>
            <a:off x="1372000" y="8677424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9" name="Freeform 19"/>
          <p:cNvSpPr/>
          <p:nvPr/>
        </p:nvSpPr>
        <p:spPr>
          <a:xfrm>
            <a:off x="3909856" y="-3086100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20" name="TextBox 20"/>
          <p:cNvSpPr txBox="1"/>
          <p:nvPr/>
        </p:nvSpPr>
        <p:spPr>
          <a:xfrm>
            <a:off x="1540697" y="5058263"/>
            <a:ext cx="7006741" cy="7927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130"/>
              </a:lnSpc>
            </a:pPr>
            <a:r>
              <a:rPr lang="en-US" sz="4375" b="1">
                <a:solidFill>
                  <a:srgbClr val="F4F6FC"/>
                </a:solidFill>
                <a:latin typeface="Poppins Bold" panose="00000800000000000000"/>
                <a:ea typeface="Poppins Bold" panose="00000800000000000000"/>
                <a:cs typeface="Poppins Bold" panose="00000800000000000000"/>
                <a:sym typeface="Poppins Bold" panose="00000800000000000000"/>
              </a:rPr>
              <a:t>PROJECT PRESENTATION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372000" y="2682232"/>
            <a:ext cx="7642805" cy="2273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865"/>
              </a:lnSpc>
            </a:pPr>
            <a:r>
              <a:rPr lang="en-US" sz="8130" b="1" dirty="0">
                <a:solidFill>
                  <a:srgbClr val="051D40"/>
                </a:solidFill>
                <a:latin typeface="Poppins Bold" panose="00000800000000000000"/>
                <a:ea typeface="Poppins Bold" panose="00000800000000000000"/>
                <a:cs typeface="Poppins Bold" panose="00000800000000000000"/>
                <a:sym typeface="Poppins Bold" panose="00000800000000000000"/>
              </a:rPr>
              <a:t>AI WEBSITE DESIGN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4538771" y="-249641"/>
            <a:ext cx="10786283" cy="10786283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2545393" y="1028700"/>
            <a:ext cx="3833305" cy="8229600"/>
            <a:chOff x="0" y="0"/>
            <a:chExt cx="593879" cy="127498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593879" cy="1274980"/>
            </a:xfrm>
            <a:custGeom>
              <a:avLst/>
              <a:gdLst/>
              <a:ahLst/>
              <a:cxnLst/>
              <a:rect l="l" t="t" r="r" b="b"/>
              <a:pathLst>
                <a:path w="593879" h="1274980">
                  <a:moveTo>
                    <a:pt x="201965" y="0"/>
                  </a:moveTo>
                  <a:lnTo>
                    <a:pt x="391915" y="0"/>
                  </a:lnTo>
                  <a:cubicBezTo>
                    <a:pt x="503457" y="0"/>
                    <a:pt x="593879" y="90423"/>
                    <a:pt x="593879" y="201965"/>
                  </a:cubicBezTo>
                  <a:lnTo>
                    <a:pt x="593879" y="1073016"/>
                  </a:lnTo>
                  <a:cubicBezTo>
                    <a:pt x="593879" y="1126580"/>
                    <a:pt x="572601" y="1177951"/>
                    <a:pt x="534725" y="1215826"/>
                  </a:cubicBezTo>
                  <a:cubicBezTo>
                    <a:pt x="496850" y="1253702"/>
                    <a:pt x="445479" y="1274980"/>
                    <a:pt x="391915" y="1274980"/>
                  </a:cubicBezTo>
                  <a:lnTo>
                    <a:pt x="201965" y="1274980"/>
                  </a:lnTo>
                  <a:cubicBezTo>
                    <a:pt x="90423" y="1274980"/>
                    <a:pt x="0" y="1184558"/>
                    <a:pt x="0" y="1073016"/>
                  </a:cubicBezTo>
                  <a:lnTo>
                    <a:pt x="0" y="201965"/>
                  </a:lnTo>
                  <a:cubicBezTo>
                    <a:pt x="0" y="90423"/>
                    <a:pt x="90423" y="0"/>
                    <a:pt x="201965" y="0"/>
                  </a:cubicBezTo>
                  <a:close/>
                </a:path>
              </a:pathLst>
            </a:custGeom>
            <a:blipFill>
              <a:blip r:embed="rId2"/>
              <a:stretch>
                <a:fillRect l="-21627" r="-21627"/>
              </a:stretch>
            </a:blipFill>
          </p:spPr>
        </p:sp>
      </p:grpSp>
      <p:sp>
        <p:nvSpPr>
          <p:cNvPr id="7" name="Freeform 7"/>
          <p:cNvSpPr/>
          <p:nvPr/>
        </p:nvSpPr>
        <p:spPr>
          <a:xfrm rot="-1368171">
            <a:off x="8138760" y="3002675"/>
            <a:ext cx="8325708" cy="7947266"/>
          </a:xfrm>
          <a:custGeom>
            <a:avLst/>
            <a:gdLst/>
            <a:ahLst/>
            <a:cxnLst/>
            <a:rect l="l" t="t" r="r" b="b"/>
            <a:pathLst>
              <a:path w="8325708" h="7947266">
                <a:moveTo>
                  <a:pt x="0" y="0"/>
                </a:moveTo>
                <a:lnTo>
                  <a:pt x="8325708" y="0"/>
                </a:lnTo>
                <a:lnTo>
                  <a:pt x="8325708" y="7947267"/>
                </a:lnTo>
                <a:lnTo>
                  <a:pt x="0" y="794726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8999"/>
              <a:extLst>
                <a:ext uri="{96DAC541-7B7A-43D3-8B79-37D633B846F1}">
                  <asvg:svgBlip xmlns=""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17354291" y="-499283"/>
            <a:ext cx="10786283" cy="10786283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 rot="5400000">
            <a:off x="-4080554" y="3955733"/>
            <a:ext cx="10536641" cy="2375534"/>
          </a:xfrm>
          <a:custGeom>
            <a:avLst/>
            <a:gdLst/>
            <a:ahLst/>
            <a:cxnLst/>
            <a:rect l="l" t="t" r="r" b="b"/>
            <a:pathLst>
              <a:path w="10536641" h="2375534">
                <a:moveTo>
                  <a:pt x="0" y="0"/>
                </a:moveTo>
                <a:lnTo>
                  <a:pt x="10536642" y="0"/>
                </a:lnTo>
                <a:lnTo>
                  <a:pt x="10536642" y="2375534"/>
                </a:lnTo>
                <a:lnTo>
                  <a:pt x="0" y="237553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7354291" y="4480324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=""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10553275" y="1179427"/>
            <a:ext cx="6581941" cy="8524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6605"/>
              </a:lnSpc>
            </a:pPr>
            <a:r>
              <a:rPr lang="en-US" sz="6060" b="1" dirty="0" smtClean="0">
                <a:solidFill>
                  <a:srgbClr val="051D40"/>
                </a:solidFill>
                <a:latin typeface="Poppins Bold" panose="00000800000000000000"/>
                <a:ea typeface="Poppins Bold" panose="00000800000000000000"/>
                <a:cs typeface="Poppins Bold" panose="00000800000000000000"/>
                <a:sym typeface="Poppins Bold" panose="00000800000000000000"/>
              </a:rPr>
              <a:t>INTRODUCTION</a:t>
            </a:r>
            <a:endParaRPr lang="en-US" sz="606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7873865" y="3485676"/>
            <a:ext cx="9261351" cy="71814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495"/>
              </a:lnSpc>
            </a:pPr>
            <a:r>
              <a:rPr lang="en-US" altLang="en-US" sz="2495" dirty="0">
                <a:solidFill>
                  <a:srgbClr val="051D40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Prompt Engineering for Web Design is the process of creating clear, structured, and effective instructions that guide an Artificial Intelligence (AI) system to produce useful web design results.</a:t>
            </a:r>
          </a:p>
          <a:p>
            <a:pPr>
              <a:lnSpc>
                <a:spcPts val="3495"/>
              </a:lnSpc>
            </a:pPr>
            <a:r>
              <a:rPr lang="en-US" altLang="en-US" sz="2495" dirty="0">
                <a:solidFill>
                  <a:srgbClr val="051D40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AI tools can help a web designer:</a:t>
            </a:r>
          </a:p>
          <a:p>
            <a:pPr>
              <a:lnSpc>
                <a:spcPts val="3495"/>
              </a:lnSpc>
            </a:pPr>
            <a:r>
              <a:rPr lang="en-US" altLang="en-US" sz="2495" dirty="0">
                <a:solidFill>
                  <a:srgbClr val="051D40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•	Generate HTML</a:t>
            </a:r>
          </a:p>
          <a:p>
            <a:pPr>
              <a:lnSpc>
                <a:spcPts val="3495"/>
              </a:lnSpc>
            </a:pPr>
            <a:r>
              <a:rPr lang="en-US" altLang="en-US" sz="2495" dirty="0">
                <a:solidFill>
                  <a:srgbClr val="051D40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•	Generate CSS</a:t>
            </a:r>
          </a:p>
          <a:p>
            <a:pPr>
              <a:lnSpc>
                <a:spcPts val="3495"/>
              </a:lnSpc>
            </a:pPr>
            <a:r>
              <a:rPr lang="en-US" altLang="en-US" sz="2495" dirty="0">
                <a:solidFill>
                  <a:srgbClr val="051D40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•	Generate JavaScript</a:t>
            </a:r>
          </a:p>
          <a:p>
            <a:pPr>
              <a:lnSpc>
                <a:spcPts val="3495"/>
              </a:lnSpc>
            </a:pPr>
            <a:r>
              <a:rPr lang="en-US" altLang="en-US" sz="2495" dirty="0">
                <a:solidFill>
                  <a:srgbClr val="051D40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•	Create website layouts</a:t>
            </a:r>
          </a:p>
          <a:p>
            <a:pPr>
              <a:lnSpc>
                <a:spcPts val="3495"/>
              </a:lnSpc>
            </a:pPr>
            <a:r>
              <a:rPr lang="en-US" altLang="en-US" sz="2495" dirty="0">
                <a:solidFill>
                  <a:srgbClr val="051D40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•	Design user interfaces</a:t>
            </a:r>
          </a:p>
          <a:p>
            <a:pPr>
              <a:lnSpc>
                <a:spcPts val="3495"/>
              </a:lnSpc>
            </a:pPr>
            <a:r>
              <a:rPr lang="en-US" altLang="en-US" sz="2495" dirty="0">
                <a:solidFill>
                  <a:srgbClr val="051D40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•	Generate website content</a:t>
            </a:r>
          </a:p>
          <a:p>
            <a:pPr>
              <a:lnSpc>
                <a:spcPts val="3495"/>
              </a:lnSpc>
            </a:pPr>
            <a:r>
              <a:rPr lang="en-US" altLang="en-US" sz="2495" dirty="0">
                <a:solidFill>
                  <a:srgbClr val="051D40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•	Create images and </a:t>
            </a:r>
            <a:r>
              <a:rPr lang="en-US" altLang="en-US" sz="2495" dirty="0" smtClean="0">
                <a:solidFill>
                  <a:srgbClr val="051D40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graphics</a:t>
            </a:r>
          </a:p>
          <a:p>
            <a:pPr>
              <a:lnSpc>
                <a:spcPts val="3495"/>
              </a:lnSpc>
            </a:pPr>
            <a:r>
              <a:rPr lang="en-US" altLang="en-US" sz="2495" dirty="0">
                <a:solidFill>
                  <a:srgbClr val="051D40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•	Improve existing designs</a:t>
            </a:r>
          </a:p>
          <a:p>
            <a:pPr>
              <a:lnSpc>
                <a:spcPts val="3495"/>
              </a:lnSpc>
            </a:pPr>
            <a:r>
              <a:rPr lang="en-US" altLang="en-US" sz="2495" dirty="0">
                <a:solidFill>
                  <a:srgbClr val="051D40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•	Make websites responsive</a:t>
            </a:r>
          </a:p>
          <a:p>
            <a:pPr>
              <a:lnSpc>
                <a:spcPts val="3495"/>
              </a:lnSpc>
            </a:pPr>
            <a:endParaRPr lang="en-US" altLang="en-US" sz="2495" dirty="0">
              <a:solidFill>
                <a:srgbClr val="051D40"/>
              </a:solidFill>
              <a:latin typeface="Poppins" panose="00000500000000000000"/>
              <a:ea typeface="Poppins" panose="00000500000000000000"/>
              <a:cs typeface="Poppins" panose="00000500000000000000"/>
              <a:sym typeface="Poppins" panose="00000500000000000000"/>
            </a:endParaRPr>
          </a:p>
          <a:p>
            <a:pPr>
              <a:lnSpc>
                <a:spcPts val="3495"/>
              </a:lnSpc>
            </a:pPr>
            <a:endParaRPr lang="en-US" altLang="en-US" sz="2495" dirty="0">
              <a:solidFill>
                <a:srgbClr val="051D40"/>
              </a:solidFill>
              <a:latin typeface="Poppins" panose="00000500000000000000"/>
              <a:ea typeface="Poppins" panose="00000500000000000000"/>
              <a:cs typeface="Poppins" panose="00000500000000000000"/>
              <a:sym typeface="Poppins" panose="0000050000000000000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4538771" y="-249641"/>
            <a:ext cx="10786283" cy="10786283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2545393" y="1028700"/>
            <a:ext cx="3833305" cy="8229600"/>
            <a:chOff x="0" y="0"/>
            <a:chExt cx="593879" cy="127498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593879" cy="1274980"/>
            </a:xfrm>
            <a:custGeom>
              <a:avLst/>
              <a:gdLst/>
              <a:ahLst/>
              <a:cxnLst/>
              <a:rect l="l" t="t" r="r" b="b"/>
              <a:pathLst>
                <a:path w="593879" h="1274980">
                  <a:moveTo>
                    <a:pt x="201965" y="0"/>
                  </a:moveTo>
                  <a:lnTo>
                    <a:pt x="391915" y="0"/>
                  </a:lnTo>
                  <a:cubicBezTo>
                    <a:pt x="503457" y="0"/>
                    <a:pt x="593879" y="90423"/>
                    <a:pt x="593879" y="201965"/>
                  </a:cubicBezTo>
                  <a:lnTo>
                    <a:pt x="593879" y="1073016"/>
                  </a:lnTo>
                  <a:cubicBezTo>
                    <a:pt x="593879" y="1126580"/>
                    <a:pt x="572601" y="1177951"/>
                    <a:pt x="534725" y="1215826"/>
                  </a:cubicBezTo>
                  <a:cubicBezTo>
                    <a:pt x="496850" y="1253702"/>
                    <a:pt x="445479" y="1274980"/>
                    <a:pt x="391915" y="1274980"/>
                  </a:cubicBezTo>
                  <a:lnTo>
                    <a:pt x="201965" y="1274980"/>
                  </a:lnTo>
                  <a:cubicBezTo>
                    <a:pt x="90423" y="1274980"/>
                    <a:pt x="0" y="1184558"/>
                    <a:pt x="0" y="1073016"/>
                  </a:cubicBezTo>
                  <a:lnTo>
                    <a:pt x="0" y="201965"/>
                  </a:lnTo>
                  <a:cubicBezTo>
                    <a:pt x="0" y="90423"/>
                    <a:pt x="90423" y="0"/>
                    <a:pt x="201965" y="0"/>
                  </a:cubicBezTo>
                  <a:close/>
                </a:path>
              </a:pathLst>
            </a:custGeom>
            <a:blipFill>
              <a:blip r:embed="rId2"/>
              <a:stretch>
                <a:fillRect l="-21627" r="-21627"/>
              </a:stretch>
            </a:blipFill>
          </p:spPr>
        </p:sp>
      </p:grpSp>
      <p:sp>
        <p:nvSpPr>
          <p:cNvPr id="7" name="Freeform 7"/>
          <p:cNvSpPr/>
          <p:nvPr/>
        </p:nvSpPr>
        <p:spPr>
          <a:xfrm rot="-1368171">
            <a:off x="8138760" y="3002675"/>
            <a:ext cx="8325708" cy="7947266"/>
          </a:xfrm>
          <a:custGeom>
            <a:avLst/>
            <a:gdLst/>
            <a:ahLst/>
            <a:cxnLst/>
            <a:rect l="l" t="t" r="r" b="b"/>
            <a:pathLst>
              <a:path w="8325708" h="7947266">
                <a:moveTo>
                  <a:pt x="0" y="0"/>
                </a:moveTo>
                <a:lnTo>
                  <a:pt x="8325708" y="0"/>
                </a:lnTo>
                <a:lnTo>
                  <a:pt x="8325708" y="7947267"/>
                </a:lnTo>
                <a:lnTo>
                  <a:pt x="0" y="794726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8999"/>
              <a:extLst>
                <a:ext uri="{96DAC541-7B7A-43D3-8B79-37D633B846F1}">
                  <asvg:svgBlip xmlns=""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17354291" y="-499283"/>
            <a:ext cx="10786283" cy="10786283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 rot="5400000">
            <a:off x="-4080554" y="3955733"/>
            <a:ext cx="10536641" cy="2375534"/>
          </a:xfrm>
          <a:custGeom>
            <a:avLst/>
            <a:gdLst/>
            <a:ahLst/>
            <a:cxnLst/>
            <a:rect l="l" t="t" r="r" b="b"/>
            <a:pathLst>
              <a:path w="10536641" h="2375534">
                <a:moveTo>
                  <a:pt x="0" y="0"/>
                </a:moveTo>
                <a:lnTo>
                  <a:pt x="10536642" y="0"/>
                </a:lnTo>
                <a:lnTo>
                  <a:pt x="10536642" y="2375534"/>
                </a:lnTo>
                <a:lnTo>
                  <a:pt x="0" y="237553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7354291" y="4480324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=""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10553275" y="1179427"/>
            <a:ext cx="6581941" cy="8524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6605"/>
              </a:lnSpc>
            </a:pPr>
            <a:r>
              <a:rPr lang="en-US" sz="6060" b="1" dirty="0" smtClean="0">
                <a:solidFill>
                  <a:srgbClr val="051D40"/>
                </a:solidFill>
                <a:latin typeface="Poppins Bold" panose="00000800000000000000"/>
                <a:ea typeface="Poppins Bold" panose="00000800000000000000"/>
                <a:cs typeface="Poppins Bold" panose="00000800000000000000"/>
                <a:sym typeface="Poppins Bold" panose="00000800000000000000"/>
              </a:rPr>
              <a:t>INTRODUCTION</a:t>
            </a:r>
            <a:endParaRPr lang="en-US" sz="606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7873865" y="3485676"/>
            <a:ext cx="9261351" cy="6261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495"/>
              </a:lnSpc>
            </a:pPr>
            <a:r>
              <a:rPr lang="en-US" altLang="en-US" sz="2495" dirty="0" smtClean="0">
                <a:solidFill>
                  <a:srgbClr val="051D40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•</a:t>
            </a:r>
            <a:r>
              <a:rPr lang="en-US" altLang="en-US" sz="2495" dirty="0">
                <a:solidFill>
                  <a:srgbClr val="051D40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	Debug code</a:t>
            </a:r>
          </a:p>
          <a:p>
            <a:pPr>
              <a:lnSpc>
                <a:spcPts val="3495"/>
              </a:lnSpc>
            </a:pPr>
            <a:r>
              <a:rPr lang="en-US" altLang="en-US" sz="2495" dirty="0">
                <a:solidFill>
                  <a:srgbClr val="051D40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•	Explain code</a:t>
            </a:r>
          </a:p>
          <a:p>
            <a:pPr>
              <a:lnSpc>
                <a:spcPts val="3495"/>
              </a:lnSpc>
            </a:pPr>
            <a:r>
              <a:rPr lang="en-US" altLang="en-US" sz="2495" dirty="0">
                <a:solidFill>
                  <a:srgbClr val="051D40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•	Generate database structures</a:t>
            </a:r>
          </a:p>
          <a:p>
            <a:pPr>
              <a:lnSpc>
                <a:spcPts val="3495"/>
              </a:lnSpc>
            </a:pPr>
            <a:r>
              <a:rPr lang="en-US" altLang="en-US" sz="2495" dirty="0">
                <a:solidFill>
                  <a:srgbClr val="051D40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•	Generate API code</a:t>
            </a:r>
          </a:p>
          <a:p>
            <a:pPr>
              <a:lnSpc>
                <a:spcPts val="3495"/>
              </a:lnSpc>
            </a:pPr>
            <a:r>
              <a:rPr lang="en-US" altLang="en-US" sz="2495" dirty="0">
                <a:solidFill>
                  <a:srgbClr val="051D40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•	Improve SEO</a:t>
            </a:r>
          </a:p>
          <a:p>
            <a:pPr>
              <a:lnSpc>
                <a:spcPts val="3495"/>
              </a:lnSpc>
            </a:pPr>
            <a:r>
              <a:rPr lang="en-US" altLang="en-US" sz="2495" dirty="0">
                <a:solidFill>
                  <a:srgbClr val="051D40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•	Test website usability</a:t>
            </a:r>
          </a:p>
          <a:p>
            <a:pPr>
              <a:lnSpc>
                <a:spcPts val="3495"/>
              </a:lnSpc>
            </a:pPr>
            <a:r>
              <a:rPr lang="en-US" altLang="en-US" sz="2495" dirty="0">
                <a:solidFill>
                  <a:srgbClr val="051D40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•	Convert ideas into complete website prototypes</a:t>
            </a:r>
          </a:p>
          <a:p>
            <a:pPr>
              <a:lnSpc>
                <a:spcPts val="3495"/>
              </a:lnSpc>
            </a:pPr>
            <a:r>
              <a:rPr lang="en-US" altLang="en-US" sz="2495" dirty="0">
                <a:solidFill>
                  <a:srgbClr val="051D40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However, the quality of the result depends heavily on the quality of the instructions given to the AI.</a:t>
            </a:r>
          </a:p>
          <a:p>
            <a:pPr>
              <a:lnSpc>
                <a:spcPts val="3495"/>
              </a:lnSpc>
            </a:pPr>
            <a:r>
              <a:rPr lang="en-US" altLang="en-US" sz="2495" dirty="0">
                <a:solidFill>
                  <a:srgbClr val="051D40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This leads to an important principle:</a:t>
            </a:r>
          </a:p>
          <a:p>
            <a:pPr>
              <a:lnSpc>
                <a:spcPts val="3495"/>
              </a:lnSpc>
            </a:pPr>
            <a:r>
              <a:rPr lang="en-US" altLang="en-US" sz="2495" dirty="0">
                <a:solidFill>
                  <a:srgbClr val="051D40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Better prompts generally produce better and more controllable results.</a:t>
            </a:r>
          </a:p>
          <a:p>
            <a:pPr>
              <a:lnSpc>
                <a:spcPts val="3495"/>
              </a:lnSpc>
            </a:pPr>
            <a:r>
              <a:rPr lang="en-US" altLang="en-US" sz="2495" dirty="0">
                <a:solidFill>
                  <a:srgbClr val="051D40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Prompt engineering therefore becomes an important skill for modern web designers.</a:t>
            </a:r>
          </a:p>
        </p:txBody>
      </p:sp>
    </p:spTree>
    <p:extLst>
      <p:ext uri="{BB962C8B-B14F-4D97-AF65-F5344CB8AC3E}">
        <p14:creationId xmlns:p14="http://schemas.microsoft.com/office/powerpoint/2010/main" val="14083497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3701559" y="5143500"/>
            <a:ext cx="9460517" cy="9460517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3557741" y="-7145674"/>
            <a:ext cx="9460517" cy="9460517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0397" y="571500"/>
            <a:ext cx="5538403" cy="5538403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2"/>
              <a:stretch>
                <a:fillRect t="-37518" b="-12345"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2667000" y="4174187"/>
            <a:ext cx="3560113" cy="3560113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tretch>
                <a:fillRect l="-48225" r="-1587"/>
              </a:stretch>
            </a:blipFill>
          </p:spPr>
        </p:sp>
      </p:grpSp>
      <p:sp>
        <p:nvSpPr>
          <p:cNvPr id="12" name="Freeform 12"/>
          <p:cNvSpPr/>
          <p:nvPr/>
        </p:nvSpPr>
        <p:spPr>
          <a:xfrm rot="-1368171">
            <a:off x="9756386" y="3847826"/>
            <a:ext cx="8325708" cy="7947266"/>
          </a:xfrm>
          <a:custGeom>
            <a:avLst/>
            <a:gdLst/>
            <a:ahLst/>
            <a:cxnLst/>
            <a:rect l="l" t="t" r="r" b="b"/>
            <a:pathLst>
              <a:path w="8325708" h="7947266">
                <a:moveTo>
                  <a:pt x="0" y="0"/>
                </a:moveTo>
                <a:lnTo>
                  <a:pt x="8325708" y="0"/>
                </a:lnTo>
                <a:lnTo>
                  <a:pt x="8325708" y="7947266"/>
                </a:lnTo>
                <a:lnTo>
                  <a:pt x="0" y="794726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8999"/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6181485" y="-1450422"/>
            <a:ext cx="5224933" cy="4635940"/>
          </a:xfrm>
          <a:custGeom>
            <a:avLst/>
            <a:gdLst/>
            <a:ahLst/>
            <a:cxnLst/>
            <a:rect l="l" t="t" r="r" b="b"/>
            <a:pathLst>
              <a:path w="5224933" h="4635940">
                <a:moveTo>
                  <a:pt x="0" y="0"/>
                </a:moveTo>
                <a:lnTo>
                  <a:pt x="5224932" y="0"/>
                </a:lnTo>
                <a:lnTo>
                  <a:pt x="5224932" y="4635940"/>
                </a:lnTo>
                <a:lnTo>
                  <a:pt x="0" y="463594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55000"/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-3391895" y="3185518"/>
            <a:ext cx="5224933" cy="4635940"/>
          </a:xfrm>
          <a:custGeom>
            <a:avLst/>
            <a:gdLst/>
            <a:ahLst/>
            <a:cxnLst/>
            <a:rect l="l" t="t" r="r" b="b"/>
            <a:pathLst>
              <a:path w="5224933" h="4635940">
                <a:moveTo>
                  <a:pt x="0" y="0"/>
                </a:moveTo>
                <a:lnTo>
                  <a:pt x="5224933" y="0"/>
                </a:lnTo>
                <a:lnTo>
                  <a:pt x="5224933" y="4635941"/>
                </a:lnTo>
                <a:lnTo>
                  <a:pt x="0" y="463594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56000"/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-1475474" y="8294851"/>
            <a:ext cx="7610227" cy="6752346"/>
          </a:xfrm>
          <a:custGeom>
            <a:avLst/>
            <a:gdLst/>
            <a:ahLst/>
            <a:cxnLst/>
            <a:rect l="l" t="t" r="r" b="b"/>
            <a:pathLst>
              <a:path w="7610227" h="6752346">
                <a:moveTo>
                  <a:pt x="0" y="0"/>
                </a:moveTo>
                <a:lnTo>
                  <a:pt x="7610226" y="0"/>
                </a:lnTo>
                <a:lnTo>
                  <a:pt x="7610226" y="6752347"/>
                </a:lnTo>
                <a:lnTo>
                  <a:pt x="0" y="675234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6" name="TextBox 16"/>
          <p:cNvSpPr txBox="1"/>
          <p:nvPr/>
        </p:nvSpPr>
        <p:spPr>
          <a:xfrm>
            <a:off x="10863530" y="1959641"/>
            <a:ext cx="6111420" cy="868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6605"/>
              </a:lnSpc>
            </a:pPr>
            <a:r>
              <a:rPr lang="en-US" sz="6000" b="1" dirty="0"/>
              <a:t>What Is a Prompt</a:t>
            </a:r>
            <a:endParaRPr lang="en-US" sz="600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6729329" y="4085004"/>
            <a:ext cx="10245622" cy="47397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2800" dirty="0"/>
              <a:t>A </a:t>
            </a:r>
            <a:r>
              <a:rPr lang="en-US" sz="2800" b="1" dirty="0"/>
              <a:t>prompt</a:t>
            </a:r>
            <a:r>
              <a:rPr lang="en-US" sz="2800" dirty="0"/>
              <a:t> is an instruction, question, command, or description given to an AI system to produce a desired result.</a:t>
            </a:r>
          </a:p>
          <a:p>
            <a:r>
              <a:rPr lang="en-US" sz="2800" dirty="0"/>
              <a:t>For example</a:t>
            </a:r>
            <a:r>
              <a:rPr lang="en-US" sz="2800" dirty="0" smtClean="0"/>
              <a:t>:</a:t>
            </a:r>
          </a:p>
          <a:p>
            <a:endParaRPr lang="en-US" sz="2800" dirty="0"/>
          </a:p>
          <a:p>
            <a:r>
              <a:rPr lang="en-US" sz="2800" dirty="0" smtClean="0"/>
              <a:t>“Create </a:t>
            </a:r>
            <a:r>
              <a:rPr lang="en-US" sz="2800" dirty="0"/>
              <a:t>a website for a restaurant</a:t>
            </a:r>
            <a:r>
              <a:rPr lang="en-US" sz="2800" dirty="0" smtClean="0"/>
              <a:t>.”</a:t>
            </a:r>
            <a:endParaRPr lang="en-US" sz="2800" dirty="0"/>
          </a:p>
          <a:p>
            <a:r>
              <a:rPr lang="en-US" sz="2800" dirty="0"/>
              <a:t>This is a prompt, but it is very general</a:t>
            </a:r>
            <a:r>
              <a:rPr lang="en-US" sz="2800" dirty="0" smtClean="0"/>
              <a:t>.</a:t>
            </a:r>
          </a:p>
          <a:p>
            <a:endParaRPr lang="en-US" sz="2800" dirty="0"/>
          </a:p>
          <a:p>
            <a:r>
              <a:rPr lang="en-US" sz="2800" dirty="0"/>
              <a:t>A more detailed prompt could be</a:t>
            </a:r>
            <a:r>
              <a:rPr lang="en-US" sz="2800" dirty="0" smtClean="0"/>
              <a:t>:</a:t>
            </a:r>
            <a:endParaRPr lang="en-US" sz="2800" dirty="0"/>
          </a:p>
          <a:p>
            <a:r>
              <a:rPr lang="en-US" sz="2800" dirty="0" smtClean="0"/>
              <a:t>“Create </a:t>
            </a:r>
            <a:r>
              <a:rPr lang="en-US" sz="2800" dirty="0"/>
              <a:t>a modern responsive restaurant website using HTML5,</a:t>
            </a:r>
          </a:p>
          <a:p>
            <a:r>
              <a:rPr lang="en-US" sz="2800" dirty="0"/>
              <a:t>CSS3 and Bootstrap </a:t>
            </a:r>
            <a:r>
              <a:rPr lang="en-US" sz="2800"/>
              <a:t>5</a:t>
            </a:r>
            <a:r>
              <a:rPr lang="en-US" sz="2800" smtClean="0"/>
              <a:t>.”</a:t>
            </a:r>
            <a:endParaRPr lang="en-US" sz="2800" dirty="0"/>
          </a:p>
          <a:p>
            <a:r>
              <a:rPr lang="en-US" sz="2800" dirty="0"/>
              <a:t> </a:t>
            </a:r>
          </a:p>
        </p:txBody>
      </p:sp>
      <p:sp>
        <p:nvSpPr>
          <p:cNvPr id="20" name="Freeform 20"/>
          <p:cNvSpPr/>
          <p:nvPr/>
        </p:nvSpPr>
        <p:spPr>
          <a:xfrm rot="10165856">
            <a:off x="2662051" y="-2415415"/>
            <a:ext cx="5680119" cy="5039815"/>
          </a:xfrm>
          <a:custGeom>
            <a:avLst/>
            <a:gdLst/>
            <a:ahLst/>
            <a:cxnLst/>
            <a:rect l="l" t="t" r="r" b="b"/>
            <a:pathLst>
              <a:path w="5680119" h="5039815">
                <a:moveTo>
                  <a:pt x="0" y="0"/>
                </a:moveTo>
                <a:lnTo>
                  <a:pt x="5680118" y="0"/>
                </a:lnTo>
                <a:lnTo>
                  <a:pt x="5680118" y="5039814"/>
                </a:lnTo>
                <a:lnTo>
                  <a:pt x="0" y="503981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18999"/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3701559" y="5143500"/>
            <a:ext cx="9460517" cy="9460517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3557741" y="-7145674"/>
            <a:ext cx="9460517" cy="9460517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0397" y="571500"/>
            <a:ext cx="5538403" cy="5538403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2"/>
              <a:stretch>
                <a:fillRect t="-37518" b="-12345"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2667000" y="4174187"/>
            <a:ext cx="3560113" cy="3560113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tretch>
                <a:fillRect l="-48225" r="-1587"/>
              </a:stretch>
            </a:blipFill>
          </p:spPr>
        </p:sp>
      </p:grpSp>
      <p:sp>
        <p:nvSpPr>
          <p:cNvPr id="12" name="Freeform 12"/>
          <p:cNvSpPr/>
          <p:nvPr/>
        </p:nvSpPr>
        <p:spPr>
          <a:xfrm rot="-1368171">
            <a:off x="9756386" y="3847826"/>
            <a:ext cx="8325708" cy="7947266"/>
          </a:xfrm>
          <a:custGeom>
            <a:avLst/>
            <a:gdLst/>
            <a:ahLst/>
            <a:cxnLst/>
            <a:rect l="l" t="t" r="r" b="b"/>
            <a:pathLst>
              <a:path w="8325708" h="7947266">
                <a:moveTo>
                  <a:pt x="0" y="0"/>
                </a:moveTo>
                <a:lnTo>
                  <a:pt x="8325708" y="0"/>
                </a:lnTo>
                <a:lnTo>
                  <a:pt x="8325708" y="7947266"/>
                </a:lnTo>
                <a:lnTo>
                  <a:pt x="0" y="794726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8999"/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6181485" y="-1450422"/>
            <a:ext cx="5224933" cy="4635940"/>
          </a:xfrm>
          <a:custGeom>
            <a:avLst/>
            <a:gdLst/>
            <a:ahLst/>
            <a:cxnLst/>
            <a:rect l="l" t="t" r="r" b="b"/>
            <a:pathLst>
              <a:path w="5224933" h="4635940">
                <a:moveTo>
                  <a:pt x="0" y="0"/>
                </a:moveTo>
                <a:lnTo>
                  <a:pt x="5224932" y="0"/>
                </a:lnTo>
                <a:lnTo>
                  <a:pt x="5224932" y="4635940"/>
                </a:lnTo>
                <a:lnTo>
                  <a:pt x="0" y="463594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55000"/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-3391895" y="3185518"/>
            <a:ext cx="5224933" cy="4635940"/>
          </a:xfrm>
          <a:custGeom>
            <a:avLst/>
            <a:gdLst/>
            <a:ahLst/>
            <a:cxnLst/>
            <a:rect l="l" t="t" r="r" b="b"/>
            <a:pathLst>
              <a:path w="5224933" h="4635940">
                <a:moveTo>
                  <a:pt x="0" y="0"/>
                </a:moveTo>
                <a:lnTo>
                  <a:pt x="5224933" y="0"/>
                </a:lnTo>
                <a:lnTo>
                  <a:pt x="5224933" y="4635941"/>
                </a:lnTo>
                <a:lnTo>
                  <a:pt x="0" y="463594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56000"/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-1475474" y="8294851"/>
            <a:ext cx="7610227" cy="6752346"/>
          </a:xfrm>
          <a:custGeom>
            <a:avLst/>
            <a:gdLst/>
            <a:ahLst/>
            <a:cxnLst/>
            <a:rect l="l" t="t" r="r" b="b"/>
            <a:pathLst>
              <a:path w="7610227" h="6752346">
                <a:moveTo>
                  <a:pt x="0" y="0"/>
                </a:moveTo>
                <a:lnTo>
                  <a:pt x="7610226" y="0"/>
                </a:lnTo>
                <a:lnTo>
                  <a:pt x="7610226" y="6752347"/>
                </a:lnTo>
                <a:lnTo>
                  <a:pt x="0" y="675234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6" name="TextBox 16"/>
          <p:cNvSpPr txBox="1"/>
          <p:nvPr/>
        </p:nvSpPr>
        <p:spPr>
          <a:xfrm>
            <a:off x="9643114" y="1249645"/>
            <a:ext cx="7331836" cy="84638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605"/>
              </a:lnSpc>
            </a:pPr>
            <a:r>
              <a:rPr lang="en-US" sz="6600" b="1" dirty="0"/>
              <a:t>What Is a </a:t>
            </a:r>
            <a:r>
              <a:rPr lang="en-US" sz="6600" b="1" dirty="0" smtClean="0"/>
              <a:t>Prompt</a:t>
            </a:r>
            <a:endParaRPr lang="en-US" sz="606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6729329" y="2705100"/>
            <a:ext cx="10245622" cy="68941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2800" dirty="0"/>
              <a:t>The website should include:</a:t>
            </a:r>
          </a:p>
          <a:p>
            <a:r>
              <a:rPr lang="en-US" sz="2800" dirty="0"/>
              <a:t>- Responsive navigation bar</a:t>
            </a:r>
          </a:p>
          <a:p>
            <a:r>
              <a:rPr lang="en-US" sz="2800" dirty="0"/>
              <a:t>- Hero section</a:t>
            </a:r>
          </a:p>
          <a:p>
            <a:r>
              <a:rPr lang="en-US" sz="2800" dirty="0"/>
              <a:t>- About section</a:t>
            </a:r>
          </a:p>
          <a:p>
            <a:r>
              <a:rPr lang="en-US" sz="2800" dirty="0"/>
              <a:t>- Menu section</a:t>
            </a:r>
          </a:p>
          <a:p>
            <a:r>
              <a:rPr lang="en-US" sz="2800" dirty="0"/>
              <a:t>- Customer testimonials</a:t>
            </a:r>
          </a:p>
          <a:p>
            <a:r>
              <a:rPr lang="en-US" sz="2800" dirty="0"/>
              <a:t>- Contact form</a:t>
            </a:r>
          </a:p>
          <a:p>
            <a:r>
              <a:rPr lang="en-US" sz="2800" dirty="0"/>
              <a:t>- Google Maps section</a:t>
            </a:r>
          </a:p>
          <a:p>
            <a:r>
              <a:rPr lang="en-US" sz="2800" dirty="0"/>
              <a:t>- Footer</a:t>
            </a:r>
          </a:p>
          <a:p>
            <a:r>
              <a:rPr lang="en-US" sz="2800" dirty="0"/>
              <a:t> </a:t>
            </a:r>
          </a:p>
          <a:p>
            <a:r>
              <a:rPr lang="en-US" sz="2800" dirty="0"/>
              <a:t>Use a professional restaurant design with warm colors,</a:t>
            </a:r>
          </a:p>
          <a:p>
            <a:r>
              <a:rPr lang="en-US" sz="2800" dirty="0"/>
              <a:t>large food images, rounded cards and clear call-to-action</a:t>
            </a:r>
          </a:p>
          <a:p>
            <a:r>
              <a:rPr lang="en-US" sz="2800" dirty="0"/>
              <a:t>buttons.</a:t>
            </a:r>
          </a:p>
          <a:p>
            <a:r>
              <a:rPr lang="en-US" sz="2800" dirty="0"/>
              <a:t> </a:t>
            </a:r>
          </a:p>
          <a:p>
            <a:r>
              <a:rPr lang="en-US" sz="2800" dirty="0"/>
              <a:t>Make the website responsive on mobile, tablet and desktop.</a:t>
            </a:r>
          </a:p>
          <a:p>
            <a:r>
              <a:rPr lang="en-US" sz="2800" dirty="0"/>
              <a:t>The second prompt gives the AI much more information to work with.</a:t>
            </a:r>
          </a:p>
        </p:txBody>
      </p:sp>
      <p:sp>
        <p:nvSpPr>
          <p:cNvPr id="20" name="Freeform 20"/>
          <p:cNvSpPr/>
          <p:nvPr/>
        </p:nvSpPr>
        <p:spPr>
          <a:xfrm rot="10165856">
            <a:off x="2662051" y="-2415415"/>
            <a:ext cx="5680119" cy="5039815"/>
          </a:xfrm>
          <a:custGeom>
            <a:avLst/>
            <a:gdLst/>
            <a:ahLst/>
            <a:cxnLst/>
            <a:rect l="l" t="t" r="r" b="b"/>
            <a:pathLst>
              <a:path w="5680119" h="5039815">
                <a:moveTo>
                  <a:pt x="0" y="0"/>
                </a:moveTo>
                <a:lnTo>
                  <a:pt x="5680118" y="0"/>
                </a:lnTo>
                <a:lnTo>
                  <a:pt x="5680118" y="5039814"/>
                </a:lnTo>
                <a:lnTo>
                  <a:pt x="0" y="503981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18999"/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</p:spTree>
    <p:extLst>
      <p:ext uri="{BB962C8B-B14F-4D97-AF65-F5344CB8AC3E}">
        <p14:creationId xmlns:p14="http://schemas.microsoft.com/office/powerpoint/2010/main" val="5196237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3768924" y="6735187"/>
            <a:ext cx="9460517" cy="9460517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377858" y="7663815"/>
            <a:ext cx="5246370" cy="5246370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2"/>
              <a:stretch>
                <a:fillRect t="-42503" b="-7309"/>
              </a:stretch>
            </a:blipFill>
          </p:spPr>
        </p:sp>
      </p:grpSp>
      <p:sp>
        <p:nvSpPr>
          <p:cNvPr id="7" name="Freeform 7"/>
          <p:cNvSpPr/>
          <p:nvPr/>
        </p:nvSpPr>
        <p:spPr>
          <a:xfrm rot="-1368171">
            <a:off x="8036856" y="3362764"/>
            <a:ext cx="8325708" cy="7947266"/>
          </a:xfrm>
          <a:custGeom>
            <a:avLst/>
            <a:gdLst/>
            <a:ahLst/>
            <a:cxnLst/>
            <a:rect l="l" t="t" r="r" b="b"/>
            <a:pathLst>
              <a:path w="8325708" h="7947266">
                <a:moveTo>
                  <a:pt x="0" y="0"/>
                </a:moveTo>
                <a:lnTo>
                  <a:pt x="8325708" y="0"/>
                </a:lnTo>
                <a:lnTo>
                  <a:pt x="8325708" y="7947266"/>
                </a:lnTo>
                <a:lnTo>
                  <a:pt x="0" y="794726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7999"/>
              <a:extLst>
                <a:ext uri="{96DAC541-7B7A-43D3-8B79-37D633B846F1}">
                  <asvg:svgBlip xmlns=""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12596407" y="-5908704"/>
            <a:ext cx="9460517" cy="946051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2663772" y="-2623185"/>
            <a:ext cx="5246370" cy="5246370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5"/>
              <a:stretch>
                <a:fillRect b="-49719"/>
              </a:stretch>
            </a:blipFill>
          </p:spPr>
        </p:sp>
      </p:grpSp>
      <p:sp>
        <p:nvSpPr>
          <p:cNvPr id="13" name="Freeform 13"/>
          <p:cNvSpPr/>
          <p:nvPr/>
        </p:nvSpPr>
        <p:spPr>
          <a:xfrm>
            <a:off x="16978565" y="-830978"/>
            <a:ext cx="6435168" cy="5709749"/>
          </a:xfrm>
          <a:custGeom>
            <a:avLst/>
            <a:gdLst/>
            <a:ahLst/>
            <a:cxnLst/>
            <a:rect l="l" t="t" r="r" b="b"/>
            <a:pathLst>
              <a:path w="6435168" h="5709749">
                <a:moveTo>
                  <a:pt x="0" y="0"/>
                </a:moveTo>
                <a:lnTo>
                  <a:pt x="6435169" y="0"/>
                </a:lnTo>
                <a:lnTo>
                  <a:pt x="6435169" y="5709749"/>
                </a:lnTo>
                <a:lnTo>
                  <a:pt x="0" y="570974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-5252387" y="5143500"/>
            <a:ext cx="6435168" cy="5709749"/>
          </a:xfrm>
          <a:custGeom>
            <a:avLst/>
            <a:gdLst/>
            <a:ahLst/>
            <a:cxnLst/>
            <a:rect l="l" t="t" r="r" b="b"/>
            <a:pathLst>
              <a:path w="6435168" h="5709749">
                <a:moveTo>
                  <a:pt x="0" y="0"/>
                </a:moveTo>
                <a:lnTo>
                  <a:pt x="6435168" y="0"/>
                </a:lnTo>
                <a:lnTo>
                  <a:pt x="6435168" y="5709749"/>
                </a:lnTo>
                <a:lnTo>
                  <a:pt x="0" y="570974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5987464" y="1179427"/>
            <a:ext cx="6313072" cy="17150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605"/>
              </a:lnSpc>
            </a:pPr>
            <a:r>
              <a:rPr lang="en-US" sz="6600" b="1" dirty="0"/>
              <a:t>What Is Prompt Engineering</a:t>
            </a:r>
            <a:endParaRPr lang="en-US" sz="606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2799284" y="3514608"/>
            <a:ext cx="12689432" cy="56015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2800" b="1" dirty="0"/>
              <a:t>Prompt engineering</a:t>
            </a:r>
            <a:r>
              <a:rPr lang="en-US" sz="2800" dirty="0"/>
              <a:t> is the practice of designing and refining prompts to obtain accurate, useful, consistent, and controllable AI-generated results.</a:t>
            </a:r>
          </a:p>
          <a:p>
            <a:r>
              <a:rPr lang="en-US" sz="2800" dirty="0"/>
              <a:t>It is not simply asking AI questions.</a:t>
            </a:r>
          </a:p>
          <a:p>
            <a:r>
              <a:rPr lang="en-US" sz="2800" dirty="0"/>
              <a:t>It involves understanding: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/>
              <a:t>What you want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/>
              <a:t>How to describe it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/>
              <a:t>What technology should be used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/>
              <a:t>What constraints exist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/>
              <a:t>What output format you need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/>
              <a:t>What the user experience should be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/>
              <a:t>What should and should not be included</a:t>
            </a:r>
          </a:p>
          <a:p>
            <a:r>
              <a:rPr lang="en-US" sz="2800" dirty="0"/>
              <a:t>For web design, prompt engineering allows you to communicate your design requirements to AI in a structured way.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368171">
            <a:off x="2537321" y="2532154"/>
            <a:ext cx="8325708" cy="7947266"/>
          </a:xfrm>
          <a:custGeom>
            <a:avLst/>
            <a:gdLst/>
            <a:ahLst/>
            <a:cxnLst/>
            <a:rect l="l" t="t" r="r" b="b"/>
            <a:pathLst>
              <a:path w="8325708" h="7947266">
                <a:moveTo>
                  <a:pt x="0" y="0"/>
                </a:moveTo>
                <a:lnTo>
                  <a:pt x="8325707" y="0"/>
                </a:lnTo>
                <a:lnTo>
                  <a:pt x="8325707" y="7947267"/>
                </a:lnTo>
                <a:lnTo>
                  <a:pt x="0" y="79472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8999"/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1895557" y="251870"/>
            <a:ext cx="6164476" cy="9783260"/>
            <a:chOff x="0" y="0"/>
            <a:chExt cx="512149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12149" cy="812800"/>
            </a:xfrm>
            <a:custGeom>
              <a:avLst/>
              <a:gdLst/>
              <a:ahLst/>
              <a:cxnLst/>
              <a:rect l="l" t="t" r="r" b="b"/>
              <a:pathLst>
                <a:path w="512149" h="812800">
                  <a:moveTo>
                    <a:pt x="89168" y="0"/>
                  </a:moveTo>
                  <a:lnTo>
                    <a:pt x="422981" y="0"/>
                  </a:lnTo>
                  <a:cubicBezTo>
                    <a:pt x="446629" y="0"/>
                    <a:pt x="469310" y="9394"/>
                    <a:pt x="486032" y="26117"/>
                  </a:cubicBezTo>
                  <a:cubicBezTo>
                    <a:pt x="502754" y="42839"/>
                    <a:pt x="512149" y="65519"/>
                    <a:pt x="512149" y="89168"/>
                  </a:cubicBezTo>
                  <a:lnTo>
                    <a:pt x="512149" y="723632"/>
                  </a:lnTo>
                  <a:cubicBezTo>
                    <a:pt x="512149" y="747281"/>
                    <a:pt x="502754" y="769961"/>
                    <a:pt x="486032" y="786683"/>
                  </a:cubicBezTo>
                  <a:cubicBezTo>
                    <a:pt x="469310" y="803406"/>
                    <a:pt x="446629" y="812800"/>
                    <a:pt x="422981" y="812800"/>
                  </a:cubicBezTo>
                  <a:lnTo>
                    <a:pt x="89168" y="812800"/>
                  </a:lnTo>
                  <a:cubicBezTo>
                    <a:pt x="65519" y="812800"/>
                    <a:pt x="42839" y="803406"/>
                    <a:pt x="26117" y="786683"/>
                  </a:cubicBezTo>
                  <a:cubicBezTo>
                    <a:pt x="9394" y="769961"/>
                    <a:pt x="0" y="747281"/>
                    <a:pt x="0" y="723632"/>
                  </a:cubicBezTo>
                  <a:lnTo>
                    <a:pt x="0" y="89168"/>
                  </a:lnTo>
                  <a:cubicBezTo>
                    <a:pt x="0" y="65519"/>
                    <a:pt x="9394" y="42839"/>
                    <a:pt x="26117" y="26117"/>
                  </a:cubicBezTo>
                  <a:cubicBezTo>
                    <a:pt x="42839" y="9394"/>
                    <a:pt x="65519" y="0"/>
                    <a:pt x="89168" y="0"/>
                  </a:cubicBezTo>
                  <a:close/>
                </a:path>
              </a:pathLst>
            </a:custGeom>
            <a:blipFill>
              <a:blip r:embed="rId4"/>
              <a:stretch>
                <a:fillRect l="-69102" r="-69102"/>
              </a:stretch>
            </a:blipFill>
          </p:spPr>
        </p:sp>
      </p:grpSp>
      <p:sp>
        <p:nvSpPr>
          <p:cNvPr id="5" name="Freeform 5"/>
          <p:cNvSpPr/>
          <p:nvPr/>
        </p:nvSpPr>
        <p:spPr>
          <a:xfrm rot="5400000">
            <a:off x="-4752727" y="3955733"/>
            <a:ext cx="10536641" cy="2375534"/>
          </a:xfrm>
          <a:custGeom>
            <a:avLst/>
            <a:gdLst/>
            <a:ahLst/>
            <a:cxnLst/>
            <a:rect l="l" t="t" r="r" b="b"/>
            <a:pathLst>
              <a:path w="10536641" h="2375534">
                <a:moveTo>
                  <a:pt x="0" y="0"/>
                </a:moveTo>
                <a:lnTo>
                  <a:pt x="10536642" y="0"/>
                </a:lnTo>
                <a:lnTo>
                  <a:pt x="10536642" y="2375534"/>
                </a:lnTo>
                <a:lnTo>
                  <a:pt x="0" y="237553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grpSp>
        <p:nvGrpSpPr>
          <p:cNvPr id="6" name="Group 6"/>
          <p:cNvGrpSpPr/>
          <p:nvPr/>
        </p:nvGrpSpPr>
        <p:grpSpPr>
          <a:xfrm>
            <a:off x="1176216" y="5693278"/>
            <a:ext cx="5826204" cy="3445491"/>
            <a:chOff x="0" y="0"/>
            <a:chExt cx="810637" cy="479393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0637" cy="479393"/>
            </a:xfrm>
            <a:custGeom>
              <a:avLst/>
              <a:gdLst/>
              <a:ahLst/>
              <a:cxnLst/>
              <a:rect l="l" t="t" r="r" b="b"/>
              <a:pathLst>
                <a:path w="810637" h="479393">
                  <a:moveTo>
                    <a:pt x="25953" y="0"/>
                  </a:moveTo>
                  <a:lnTo>
                    <a:pt x="784684" y="0"/>
                  </a:lnTo>
                  <a:cubicBezTo>
                    <a:pt x="791567" y="0"/>
                    <a:pt x="798168" y="2734"/>
                    <a:pt x="803036" y="7602"/>
                  </a:cubicBezTo>
                  <a:cubicBezTo>
                    <a:pt x="807903" y="12469"/>
                    <a:pt x="810637" y="19070"/>
                    <a:pt x="810637" y="25953"/>
                  </a:cubicBezTo>
                  <a:lnTo>
                    <a:pt x="810637" y="453440"/>
                  </a:lnTo>
                  <a:cubicBezTo>
                    <a:pt x="810637" y="460323"/>
                    <a:pt x="807903" y="466925"/>
                    <a:pt x="803036" y="471792"/>
                  </a:cubicBezTo>
                  <a:cubicBezTo>
                    <a:pt x="798168" y="476659"/>
                    <a:pt x="791567" y="479393"/>
                    <a:pt x="784684" y="479393"/>
                  </a:cubicBezTo>
                  <a:lnTo>
                    <a:pt x="25953" y="479393"/>
                  </a:lnTo>
                  <a:cubicBezTo>
                    <a:pt x="19070" y="479393"/>
                    <a:pt x="12469" y="476659"/>
                    <a:pt x="7602" y="471792"/>
                  </a:cubicBezTo>
                  <a:cubicBezTo>
                    <a:pt x="2734" y="466925"/>
                    <a:pt x="0" y="460323"/>
                    <a:pt x="0" y="453440"/>
                  </a:cubicBezTo>
                  <a:lnTo>
                    <a:pt x="0" y="25953"/>
                  </a:lnTo>
                  <a:cubicBezTo>
                    <a:pt x="0" y="19070"/>
                    <a:pt x="2734" y="12469"/>
                    <a:pt x="7602" y="7602"/>
                  </a:cubicBezTo>
                  <a:cubicBezTo>
                    <a:pt x="12469" y="2734"/>
                    <a:pt x="19070" y="0"/>
                    <a:pt x="25953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810637" cy="5174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7338851" y="5693278"/>
            <a:ext cx="6674043" cy="3445491"/>
            <a:chOff x="0" y="0"/>
            <a:chExt cx="928602" cy="479393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928602" cy="479393"/>
            </a:xfrm>
            <a:custGeom>
              <a:avLst/>
              <a:gdLst/>
              <a:ahLst/>
              <a:cxnLst/>
              <a:rect l="l" t="t" r="r" b="b"/>
              <a:pathLst>
                <a:path w="928602" h="479393">
                  <a:moveTo>
                    <a:pt x="22656" y="0"/>
                  </a:moveTo>
                  <a:lnTo>
                    <a:pt x="905946" y="0"/>
                  </a:lnTo>
                  <a:cubicBezTo>
                    <a:pt x="911955" y="0"/>
                    <a:pt x="917718" y="2387"/>
                    <a:pt x="921966" y="6636"/>
                  </a:cubicBezTo>
                  <a:cubicBezTo>
                    <a:pt x="926215" y="10885"/>
                    <a:pt x="928602" y="16648"/>
                    <a:pt x="928602" y="22656"/>
                  </a:cubicBezTo>
                  <a:lnTo>
                    <a:pt x="928602" y="456737"/>
                  </a:lnTo>
                  <a:cubicBezTo>
                    <a:pt x="928602" y="462746"/>
                    <a:pt x="926215" y="468509"/>
                    <a:pt x="921966" y="472757"/>
                  </a:cubicBezTo>
                  <a:cubicBezTo>
                    <a:pt x="917718" y="477006"/>
                    <a:pt x="911955" y="479393"/>
                    <a:pt x="905946" y="479393"/>
                  </a:cubicBezTo>
                  <a:lnTo>
                    <a:pt x="22656" y="479393"/>
                  </a:lnTo>
                  <a:cubicBezTo>
                    <a:pt x="16648" y="479393"/>
                    <a:pt x="10885" y="477006"/>
                    <a:pt x="6636" y="472757"/>
                  </a:cubicBezTo>
                  <a:cubicBezTo>
                    <a:pt x="2387" y="468509"/>
                    <a:pt x="0" y="462746"/>
                    <a:pt x="0" y="456737"/>
                  </a:cubicBezTo>
                  <a:lnTo>
                    <a:pt x="0" y="22656"/>
                  </a:lnTo>
                  <a:cubicBezTo>
                    <a:pt x="0" y="16648"/>
                    <a:pt x="2387" y="10885"/>
                    <a:pt x="6636" y="6636"/>
                  </a:cubicBezTo>
                  <a:cubicBezTo>
                    <a:pt x="10885" y="2387"/>
                    <a:pt x="16648" y="0"/>
                    <a:pt x="22656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928602" cy="5174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12" name="Freeform 12"/>
          <p:cNvSpPr/>
          <p:nvPr/>
        </p:nvSpPr>
        <p:spPr>
          <a:xfrm>
            <a:off x="15741242" y="8229600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=""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1103660" y="-2865691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=""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1227430" y="1172909"/>
            <a:ext cx="10179987" cy="169277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605"/>
              </a:lnSpc>
            </a:pPr>
            <a:r>
              <a:rPr lang="en-US" sz="6600" b="1" dirty="0"/>
              <a:t>Why Prompt Engineering Is Important in Web Design</a:t>
            </a:r>
            <a:endParaRPr lang="en-US" sz="606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430349" y="5735002"/>
            <a:ext cx="5317938" cy="3447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Without a good prompt:</a:t>
            </a:r>
          </a:p>
          <a:p>
            <a:r>
              <a:rPr lang="en-US" sz="2800" dirty="0">
                <a:solidFill>
                  <a:schemeClr val="bg1"/>
                </a:solidFill>
              </a:rPr>
              <a:t>Vague prompt</a:t>
            </a:r>
          </a:p>
          <a:p>
            <a:r>
              <a:rPr lang="en-US" sz="2800" dirty="0">
                <a:solidFill>
                  <a:schemeClr val="bg1"/>
                </a:solidFill>
              </a:rPr>
              <a:t>     ↓</a:t>
            </a:r>
          </a:p>
          <a:p>
            <a:r>
              <a:rPr lang="en-US" sz="2800" dirty="0">
                <a:solidFill>
                  <a:schemeClr val="bg1"/>
                </a:solidFill>
              </a:rPr>
              <a:t>Poor output</a:t>
            </a:r>
          </a:p>
          <a:p>
            <a:r>
              <a:rPr lang="en-US" sz="2800" dirty="0">
                <a:solidFill>
                  <a:schemeClr val="bg1"/>
                </a:solidFill>
              </a:rPr>
              <a:t>     ↓</a:t>
            </a:r>
          </a:p>
          <a:p>
            <a:r>
              <a:rPr lang="en-US" sz="2800" dirty="0">
                <a:solidFill>
                  <a:schemeClr val="bg1"/>
                </a:solidFill>
              </a:rPr>
              <a:t>Many corrections</a:t>
            </a:r>
          </a:p>
          <a:p>
            <a:r>
              <a:rPr lang="en-US" sz="2800" dirty="0">
                <a:solidFill>
                  <a:schemeClr val="bg1"/>
                </a:solidFill>
              </a:rPr>
              <a:t>     ↓</a:t>
            </a:r>
          </a:p>
          <a:p>
            <a:r>
              <a:rPr lang="en-US" sz="2800" dirty="0">
                <a:solidFill>
                  <a:schemeClr val="bg1"/>
                </a:solidFill>
              </a:rPr>
              <a:t>Wasted time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624803" y="5753100"/>
            <a:ext cx="6102139" cy="3447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With a good prompt:</a:t>
            </a:r>
          </a:p>
          <a:p>
            <a:r>
              <a:rPr lang="en-US" sz="2800" dirty="0">
                <a:solidFill>
                  <a:schemeClr val="bg1"/>
                </a:solidFill>
              </a:rPr>
              <a:t>Detailed prompt</a:t>
            </a:r>
          </a:p>
          <a:p>
            <a:r>
              <a:rPr lang="en-US" sz="2800" dirty="0">
                <a:solidFill>
                  <a:schemeClr val="bg1"/>
                </a:solidFill>
              </a:rPr>
              <a:t>     ↓</a:t>
            </a:r>
          </a:p>
          <a:p>
            <a:r>
              <a:rPr lang="en-US" sz="2800" dirty="0">
                <a:solidFill>
                  <a:schemeClr val="bg1"/>
                </a:solidFill>
              </a:rPr>
              <a:t>Relevant output</a:t>
            </a:r>
          </a:p>
          <a:p>
            <a:r>
              <a:rPr lang="en-US" sz="2800" dirty="0">
                <a:solidFill>
                  <a:schemeClr val="bg1"/>
                </a:solidFill>
              </a:rPr>
              <a:t>     ↓</a:t>
            </a:r>
          </a:p>
          <a:p>
            <a:r>
              <a:rPr lang="en-US" sz="2800" dirty="0">
                <a:solidFill>
                  <a:schemeClr val="bg1"/>
                </a:solidFill>
              </a:rPr>
              <a:t>Small corrections</a:t>
            </a:r>
          </a:p>
          <a:p>
            <a:r>
              <a:rPr lang="en-US" sz="2800" dirty="0">
                <a:solidFill>
                  <a:schemeClr val="bg1"/>
                </a:solidFill>
              </a:rPr>
              <a:t>     ↓</a:t>
            </a:r>
          </a:p>
          <a:p>
            <a:r>
              <a:rPr lang="en-US" sz="2800" dirty="0">
                <a:solidFill>
                  <a:schemeClr val="bg1"/>
                </a:solidFill>
              </a:rPr>
              <a:t>Faster development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27431" y="3248500"/>
            <a:ext cx="10179987" cy="21544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2800" dirty="0"/>
              <a:t>Traditional web development requires the designer/developer to manually create many parts of a website.</a:t>
            </a:r>
          </a:p>
          <a:p>
            <a:r>
              <a:rPr lang="en-US" sz="2800" dirty="0"/>
              <a:t>With AI assistance, many tasks can be accelerated.</a:t>
            </a:r>
          </a:p>
          <a:p>
            <a:r>
              <a:rPr lang="en-US" sz="2800" dirty="0"/>
              <a:t>For </a:t>
            </a:r>
            <a:r>
              <a:rPr lang="en-US" sz="2800" dirty="0" smtClean="0"/>
              <a:t>example: </a:t>
            </a:r>
            <a:r>
              <a:rPr lang="en-US" sz="2800" dirty="0" err="1" smtClean="0"/>
              <a:t>Idea↓AI</a:t>
            </a:r>
            <a:r>
              <a:rPr lang="en-US" sz="2800" dirty="0" smtClean="0"/>
              <a:t> </a:t>
            </a:r>
            <a:r>
              <a:rPr lang="en-US" sz="2800" dirty="0" err="1" smtClean="0"/>
              <a:t>Prompt↓AI</a:t>
            </a:r>
            <a:r>
              <a:rPr lang="en-US" sz="2800" dirty="0" smtClean="0"/>
              <a:t> </a:t>
            </a:r>
            <a:r>
              <a:rPr lang="en-US" sz="2800" dirty="0" err="1" smtClean="0"/>
              <a:t>Output↓Review↓Modify↓Test</a:t>
            </a:r>
            <a:r>
              <a:rPr lang="en-US" sz="2800" dirty="0" smtClean="0"/>
              <a:t>↓</a:t>
            </a:r>
            <a:endParaRPr lang="en-US" sz="2800" dirty="0"/>
          </a:p>
          <a:p>
            <a:r>
              <a:rPr lang="en-US" sz="2800" dirty="0"/>
              <a:t>Final Website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368171">
            <a:off x="2537321" y="2532154"/>
            <a:ext cx="8325708" cy="7947266"/>
          </a:xfrm>
          <a:custGeom>
            <a:avLst/>
            <a:gdLst/>
            <a:ahLst/>
            <a:cxnLst/>
            <a:rect l="l" t="t" r="r" b="b"/>
            <a:pathLst>
              <a:path w="8325708" h="7947266">
                <a:moveTo>
                  <a:pt x="0" y="0"/>
                </a:moveTo>
                <a:lnTo>
                  <a:pt x="8325707" y="0"/>
                </a:lnTo>
                <a:lnTo>
                  <a:pt x="8325707" y="7947267"/>
                </a:lnTo>
                <a:lnTo>
                  <a:pt x="0" y="79472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8999"/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1895557" y="251870"/>
            <a:ext cx="6164476" cy="9783260"/>
            <a:chOff x="0" y="0"/>
            <a:chExt cx="512149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12149" cy="812800"/>
            </a:xfrm>
            <a:custGeom>
              <a:avLst/>
              <a:gdLst/>
              <a:ahLst/>
              <a:cxnLst/>
              <a:rect l="l" t="t" r="r" b="b"/>
              <a:pathLst>
                <a:path w="512149" h="812800">
                  <a:moveTo>
                    <a:pt x="89168" y="0"/>
                  </a:moveTo>
                  <a:lnTo>
                    <a:pt x="422981" y="0"/>
                  </a:lnTo>
                  <a:cubicBezTo>
                    <a:pt x="446629" y="0"/>
                    <a:pt x="469310" y="9394"/>
                    <a:pt x="486032" y="26117"/>
                  </a:cubicBezTo>
                  <a:cubicBezTo>
                    <a:pt x="502754" y="42839"/>
                    <a:pt x="512149" y="65519"/>
                    <a:pt x="512149" y="89168"/>
                  </a:cubicBezTo>
                  <a:lnTo>
                    <a:pt x="512149" y="723632"/>
                  </a:lnTo>
                  <a:cubicBezTo>
                    <a:pt x="512149" y="747281"/>
                    <a:pt x="502754" y="769961"/>
                    <a:pt x="486032" y="786683"/>
                  </a:cubicBezTo>
                  <a:cubicBezTo>
                    <a:pt x="469310" y="803406"/>
                    <a:pt x="446629" y="812800"/>
                    <a:pt x="422981" y="812800"/>
                  </a:cubicBezTo>
                  <a:lnTo>
                    <a:pt x="89168" y="812800"/>
                  </a:lnTo>
                  <a:cubicBezTo>
                    <a:pt x="65519" y="812800"/>
                    <a:pt x="42839" y="803406"/>
                    <a:pt x="26117" y="786683"/>
                  </a:cubicBezTo>
                  <a:cubicBezTo>
                    <a:pt x="9394" y="769961"/>
                    <a:pt x="0" y="747281"/>
                    <a:pt x="0" y="723632"/>
                  </a:cubicBezTo>
                  <a:lnTo>
                    <a:pt x="0" y="89168"/>
                  </a:lnTo>
                  <a:cubicBezTo>
                    <a:pt x="0" y="65519"/>
                    <a:pt x="9394" y="42839"/>
                    <a:pt x="26117" y="26117"/>
                  </a:cubicBezTo>
                  <a:cubicBezTo>
                    <a:pt x="42839" y="9394"/>
                    <a:pt x="65519" y="0"/>
                    <a:pt x="89168" y="0"/>
                  </a:cubicBezTo>
                  <a:close/>
                </a:path>
              </a:pathLst>
            </a:custGeom>
            <a:blipFill>
              <a:blip r:embed="rId4"/>
              <a:stretch>
                <a:fillRect l="-69102" r="-69102"/>
              </a:stretch>
            </a:blipFill>
          </p:spPr>
        </p:sp>
      </p:grpSp>
      <p:sp>
        <p:nvSpPr>
          <p:cNvPr id="5" name="Freeform 5"/>
          <p:cNvSpPr/>
          <p:nvPr/>
        </p:nvSpPr>
        <p:spPr>
          <a:xfrm rot="5400000">
            <a:off x="-4752727" y="3955733"/>
            <a:ext cx="10536641" cy="2375534"/>
          </a:xfrm>
          <a:custGeom>
            <a:avLst/>
            <a:gdLst/>
            <a:ahLst/>
            <a:cxnLst/>
            <a:rect l="l" t="t" r="r" b="b"/>
            <a:pathLst>
              <a:path w="10536641" h="2375534">
                <a:moveTo>
                  <a:pt x="0" y="0"/>
                </a:moveTo>
                <a:lnTo>
                  <a:pt x="10536642" y="0"/>
                </a:lnTo>
                <a:lnTo>
                  <a:pt x="10536642" y="2375534"/>
                </a:lnTo>
                <a:lnTo>
                  <a:pt x="0" y="237553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5741242" y="8229600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=""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1103660" y="-2865691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=""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1227430" y="190500"/>
            <a:ext cx="10179987" cy="25614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605"/>
              </a:lnSpc>
            </a:pPr>
            <a:r>
              <a:rPr lang="en-US" sz="6600" b="1" dirty="0"/>
              <a:t>Prompt Engineering Does Not Replace Web Design Knowledge</a:t>
            </a:r>
            <a:endParaRPr lang="en-US" sz="606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1227431" y="2781300"/>
            <a:ext cx="10179987" cy="73250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2800" dirty="0"/>
              <a:t>This is extremely important.</a:t>
            </a:r>
          </a:p>
          <a:p>
            <a:r>
              <a:rPr lang="en-US" sz="2800" dirty="0"/>
              <a:t>AI can generate code, but a web designer should understand what the code is doing.</a:t>
            </a:r>
          </a:p>
          <a:p>
            <a:r>
              <a:rPr lang="en-US" sz="2800" dirty="0"/>
              <a:t>For example, AI may generate:</a:t>
            </a:r>
          </a:p>
          <a:p>
            <a:r>
              <a:rPr lang="en-US" sz="2800" dirty="0"/>
              <a:t>.container {</a:t>
            </a:r>
          </a:p>
          <a:p>
            <a:r>
              <a:rPr lang="en-US" sz="2800" dirty="0"/>
              <a:t>    display: flex;</a:t>
            </a:r>
          </a:p>
          <a:p>
            <a:r>
              <a:rPr lang="en-US" sz="2800" dirty="0"/>
              <a:t>    justify-content: space-between;</a:t>
            </a:r>
          </a:p>
          <a:p>
            <a:r>
              <a:rPr lang="en-US" sz="2800" dirty="0"/>
              <a:t>}</a:t>
            </a:r>
          </a:p>
          <a:p>
            <a:r>
              <a:rPr lang="en-US" sz="2800" dirty="0"/>
              <a:t>The designer should understand:</a:t>
            </a:r>
          </a:p>
          <a:p>
            <a:pPr lvl="0"/>
            <a:r>
              <a:rPr lang="en-US" sz="2800" dirty="0"/>
              <a:t>What display: flex does</a:t>
            </a:r>
          </a:p>
          <a:p>
            <a:pPr lvl="0"/>
            <a:r>
              <a:rPr lang="en-US" sz="2800" dirty="0"/>
              <a:t>What justify-content does</a:t>
            </a:r>
          </a:p>
          <a:p>
            <a:pPr lvl="0"/>
            <a:r>
              <a:rPr lang="en-US" sz="2800" dirty="0"/>
              <a:t>When </a:t>
            </a:r>
            <a:r>
              <a:rPr lang="en-US" sz="2800" dirty="0" err="1"/>
              <a:t>Flexbox</a:t>
            </a:r>
            <a:r>
              <a:rPr lang="en-US" sz="2800" dirty="0"/>
              <a:t> should be used</a:t>
            </a:r>
          </a:p>
          <a:p>
            <a:pPr lvl="0"/>
            <a:r>
              <a:rPr lang="en-US" sz="2800" dirty="0"/>
              <a:t>How it behaves on mobile</a:t>
            </a:r>
          </a:p>
          <a:p>
            <a:pPr lvl="0"/>
            <a:r>
              <a:rPr lang="en-US" sz="2800" dirty="0"/>
              <a:t>Whether the layout is appropriate</a:t>
            </a:r>
          </a:p>
          <a:p>
            <a:r>
              <a:rPr lang="en-US" sz="2800" dirty="0"/>
              <a:t>Therefore:</a:t>
            </a:r>
          </a:p>
          <a:p>
            <a:r>
              <a:rPr lang="en-US" sz="2800" b="1" dirty="0"/>
              <a:t>AI should be treated as an assistant, not as a replacement for web design knowledge.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4752158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2051777" y="1904800"/>
            <a:ext cx="13722913" cy="13722913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184300" y="-5129608"/>
            <a:ext cx="7034408" cy="7034408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4433773" y="9062399"/>
            <a:ext cx="5143500" cy="5143500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 rot="5400000">
            <a:off x="-4685509" y="3955733"/>
            <a:ext cx="10536641" cy="2375534"/>
          </a:xfrm>
          <a:custGeom>
            <a:avLst/>
            <a:gdLst/>
            <a:ahLst/>
            <a:cxnLst/>
            <a:rect l="l" t="t" r="r" b="b"/>
            <a:pathLst>
              <a:path w="10536641" h="2375534">
                <a:moveTo>
                  <a:pt x="0" y="0"/>
                </a:moveTo>
                <a:lnTo>
                  <a:pt x="10536641" y="0"/>
                </a:lnTo>
                <a:lnTo>
                  <a:pt x="10536641" y="2375534"/>
                </a:lnTo>
                <a:lnTo>
                  <a:pt x="0" y="237553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7194118" y="-1612404"/>
            <a:ext cx="5014772" cy="4449470"/>
          </a:xfrm>
          <a:custGeom>
            <a:avLst/>
            <a:gdLst/>
            <a:ahLst/>
            <a:cxnLst/>
            <a:rect l="l" t="t" r="r" b="b"/>
            <a:pathLst>
              <a:path w="5014772" h="4449470">
                <a:moveTo>
                  <a:pt x="0" y="0"/>
                </a:moveTo>
                <a:lnTo>
                  <a:pt x="5014772" y="0"/>
                </a:lnTo>
                <a:lnTo>
                  <a:pt x="5014772" y="4449471"/>
                </a:lnTo>
                <a:lnTo>
                  <a:pt x="0" y="444947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6184300" y="7883197"/>
            <a:ext cx="5014772" cy="4449470"/>
          </a:xfrm>
          <a:custGeom>
            <a:avLst/>
            <a:gdLst/>
            <a:ahLst/>
            <a:cxnLst/>
            <a:rect l="l" t="t" r="r" b="b"/>
            <a:pathLst>
              <a:path w="5014772" h="4449470">
                <a:moveTo>
                  <a:pt x="0" y="0"/>
                </a:moveTo>
                <a:lnTo>
                  <a:pt x="5014772" y="0"/>
                </a:lnTo>
                <a:lnTo>
                  <a:pt x="5014772" y="4449471"/>
                </a:lnTo>
                <a:lnTo>
                  <a:pt x="0" y="444947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11671136" y="3426200"/>
            <a:ext cx="5440240" cy="4114800"/>
          </a:xfrm>
          <a:custGeom>
            <a:avLst/>
            <a:gdLst/>
            <a:ahLst/>
            <a:cxnLst/>
            <a:rect l="l" t="t" r="r" b="b"/>
            <a:pathLst>
              <a:path w="5440240" h="4114800">
                <a:moveTo>
                  <a:pt x="0" y="0"/>
                </a:moveTo>
                <a:lnTo>
                  <a:pt x="5440241" y="0"/>
                </a:lnTo>
                <a:lnTo>
                  <a:pt x="5440241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7924801" y="1179427"/>
            <a:ext cx="9210416" cy="169277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605"/>
              </a:lnSpc>
            </a:pPr>
            <a:r>
              <a:rPr lang="en-US" sz="6600" b="1" dirty="0"/>
              <a:t>Components of a Good Web Design Prompt</a:t>
            </a:r>
            <a:endParaRPr lang="en-US" sz="606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1241760" y="3801369"/>
            <a:ext cx="8409932" cy="116339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</a:rPr>
              <a:t>A good web design prompt can contain several important components.</a:t>
            </a:r>
          </a:p>
          <a:p>
            <a:r>
              <a:rPr lang="en-US" sz="3600" dirty="0">
                <a:solidFill>
                  <a:schemeClr val="bg1"/>
                </a:solidFill>
              </a:rPr>
              <a:t>A useful structure is:</a:t>
            </a:r>
          </a:p>
          <a:p>
            <a:r>
              <a:rPr lang="en-US" sz="3600" dirty="0">
                <a:solidFill>
                  <a:schemeClr val="bg1"/>
                </a:solidFill>
              </a:rPr>
              <a:t>ROLE</a:t>
            </a:r>
          </a:p>
          <a:p>
            <a:r>
              <a:rPr lang="en-US" sz="3600" dirty="0">
                <a:solidFill>
                  <a:schemeClr val="bg1"/>
                </a:solidFill>
              </a:rPr>
              <a:t>+</a:t>
            </a:r>
          </a:p>
          <a:p>
            <a:r>
              <a:rPr lang="en-US" sz="3600" dirty="0">
                <a:solidFill>
                  <a:schemeClr val="bg1"/>
                </a:solidFill>
              </a:rPr>
              <a:t>TASK</a:t>
            </a:r>
          </a:p>
          <a:p>
            <a:r>
              <a:rPr lang="en-US" sz="3600" dirty="0">
                <a:solidFill>
                  <a:schemeClr val="bg1"/>
                </a:solidFill>
              </a:rPr>
              <a:t>+</a:t>
            </a:r>
          </a:p>
          <a:p>
            <a:r>
              <a:rPr lang="en-US" sz="3600" dirty="0">
                <a:solidFill>
                  <a:schemeClr val="bg1"/>
                </a:solidFill>
              </a:rPr>
              <a:t>PROJECT CONTEXT</a:t>
            </a:r>
          </a:p>
          <a:p>
            <a:r>
              <a:rPr lang="en-US" sz="3600" dirty="0">
                <a:solidFill>
                  <a:schemeClr val="bg1"/>
                </a:solidFill>
              </a:rPr>
              <a:t>+</a:t>
            </a:r>
          </a:p>
          <a:p>
            <a:r>
              <a:rPr lang="en-US" sz="3600" dirty="0">
                <a:solidFill>
                  <a:schemeClr val="bg1"/>
                </a:solidFill>
              </a:rPr>
              <a:t>TECHNOLOGY</a:t>
            </a:r>
          </a:p>
          <a:p>
            <a:r>
              <a:rPr lang="en-US" sz="3600" dirty="0">
                <a:solidFill>
                  <a:schemeClr val="bg1"/>
                </a:solidFill>
              </a:rPr>
              <a:t>+</a:t>
            </a:r>
          </a:p>
          <a:p>
            <a:r>
              <a:rPr lang="en-US" sz="3600" dirty="0">
                <a:solidFill>
                  <a:schemeClr val="bg1"/>
                </a:solidFill>
              </a:rPr>
              <a:t>DESIGN </a:t>
            </a:r>
            <a:r>
              <a:rPr lang="en-US" sz="3600" dirty="0" smtClean="0">
                <a:solidFill>
                  <a:schemeClr val="bg1"/>
                </a:solidFill>
              </a:rPr>
              <a:t>REQUIREMENTS</a:t>
            </a:r>
          </a:p>
          <a:p>
            <a:r>
              <a:rPr lang="en-US" sz="3600" dirty="0">
                <a:solidFill>
                  <a:schemeClr val="bg1"/>
                </a:solidFill>
              </a:rPr>
              <a:t>+</a:t>
            </a:r>
            <a:endParaRPr lang="en-US" sz="3600" dirty="0" smtClean="0">
              <a:solidFill>
                <a:schemeClr val="bg1"/>
              </a:solidFill>
            </a:endParaRPr>
          </a:p>
          <a:p>
            <a:r>
              <a:rPr lang="en-US" sz="3600" dirty="0">
                <a:solidFill>
                  <a:schemeClr val="bg1"/>
                </a:solidFill>
              </a:rPr>
              <a:t>FUNCTIONAL REQUIREMENTS</a:t>
            </a:r>
          </a:p>
          <a:p>
            <a:r>
              <a:rPr lang="en-US" sz="3600" dirty="0">
                <a:solidFill>
                  <a:schemeClr val="bg1"/>
                </a:solidFill>
              </a:rPr>
              <a:t>+</a:t>
            </a:r>
          </a:p>
          <a:p>
            <a:r>
              <a:rPr lang="en-US" sz="3600" dirty="0">
                <a:solidFill>
                  <a:schemeClr val="bg1"/>
                </a:solidFill>
              </a:rPr>
              <a:t>RESPONSIVENESS</a:t>
            </a:r>
          </a:p>
          <a:p>
            <a:r>
              <a:rPr lang="en-US" sz="3600" dirty="0">
                <a:solidFill>
                  <a:schemeClr val="bg1"/>
                </a:solidFill>
              </a:rPr>
              <a:t>+</a:t>
            </a:r>
          </a:p>
          <a:p>
            <a:r>
              <a:rPr lang="en-US" sz="3600" dirty="0">
                <a:solidFill>
                  <a:schemeClr val="bg1"/>
                </a:solidFill>
              </a:rPr>
              <a:t>CONSTRAINTS</a:t>
            </a:r>
          </a:p>
          <a:p>
            <a:r>
              <a:rPr lang="en-US" sz="3600" dirty="0">
                <a:solidFill>
                  <a:schemeClr val="bg1"/>
                </a:solidFill>
              </a:rPr>
              <a:t>+</a:t>
            </a:r>
          </a:p>
          <a:p>
            <a:r>
              <a:rPr lang="en-US" sz="3600" dirty="0">
                <a:solidFill>
                  <a:schemeClr val="bg1"/>
                </a:solidFill>
              </a:rPr>
              <a:t>OUTPUT FORMAT</a:t>
            </a:r>
          </a:p>
          <a:p>
            <a:endParaRPr lang="en-US" sz="36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2051777" y="1904800"/>
            <a:ext cx="13722913" cy="13722913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184300" y="-5129608"/>
            <a:ext cx="7034408" cy="7034408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4433773" y="9062399"/>
            <a:ext cx="5143500" cy="5143500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 rot="5400000">
            <a:off x="-4685509" y="3955733"/>
            <a:ext cx="10536641" cy="2375534"/>
          </a:xfrm>
          <a:custGeom>
            <a:avLst/>
            <a:gdLst/>
            <a:ahLst/>
            <a:cxnLst/>
            <a:rect l="l" t="t" r="r" b="b"/>
            <a:pathLst>
              <a:path w="10536641" h="2375534">
                <a:moveTo>
                  <a:pt x="0" y="0"/>
                </a:moveTo>
                <a:lnTo>
                  <a:pt x="10536641" y="0"/>
                </a:lnTo>
                <a:lnTo>
                  <a:pt x="10536641" y="2375534"/>
                </a:lnTo>
                <a:lnTo>
                  <a:pt x="0" y="237553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7194118" y="-1612404"/>
            <a:ext cx="5014772" cy="4449470"/>
          </a:xfrm>
          <a:custGeom>
            <a:avLst/>
            <a:gdLst/>
            <a:ahLst/>
            <a:cxnLst/>
            <a:rect l="l" t="t" r="r" b="b"/>
            <a:pathLst>
              <a:path w="5014772" h="4449470">
                <a:moveTo>
                  <a:pt x="0" y="0"/>
                </a:moveTo>
                <a:lnTo>
                  <a:pt x="5014772" y="0"/>
                </a:lnTo>
                <a:lnTo>
                  <a:pt x="5014772" y="4449471"/>
                </a:lnTo>
                <a:lnTo>
                  <a:pt x="0" y="444947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6184300" y="7883197"/>
            <a:ext cx="5014772" cy="4449470"/>
          </a:xfrm>
          <a:custGeom>
            <a:avLst/>
            <a:gdLst/>
            <a:ahLst/>
            <a:cxnLst/>
            <a:rect l="l" t="t" r="r" b="b"/>
            <a:pathLst>
              <a:path w="5014772" h="4449470">
                <a:moveTo>
                  <a:pt x="0" y="0"/>
                </a:moveTo>
                <a:lnTo>
                  <a:pt x="5014772" y="0"/>
                </a:lnTo>
                <a:lnTo>
                  <a:pt x="5014772" y="4449471"/>
                </a:lnTo>
                <a:lnTo>
                  <a:pt x="0" y="444947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11671136" y="3426200"/>
            <a:ext cx="5440240" cy="4114800"/>
          </a:xfrm>
          <a:custGeom>
            <a:avLst/>
            <a:gdLst/>
            <a:ahLst/>
            <a:cxnLst/>
            <a:rect l="l" t="t" r="r" b="b"/>
            <a:pathLst>
              <a:path w="5440240" h="4114800">
                <a:moveTo>
                  <a:pt x="0" y="0"/>
                </a:moveTo>
                <a:lnTo>
                  <a:pt x="5440241" y="0"/>
                </a:lnTo>
                <a:lnTo>
                  <a:pt x="5440241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7924801" y="1179427"/>
            <a:ext cx="9210416" cy="169277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605"/>
              </a:lnSpc>
            </a:pPr>
            <a:r>
              <a:rPr lang="en-US" sz="6600" b="1" dirty="0"/>
              <a:t>Components of a Good Web Design Prompt</a:t>
            </a:r>
            <a:endParaRPr lang="en-US" sz="606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1241760" y="3801369"/>
            <a:ext cx="8409932" cy="110799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3600" dirty="0" smtClean="0">
                <a:solidFill>
                  <a:schemeClr val="bg1"/>
                </a:solidFill>
              </a:rPr>
              <a:t>For </a:t>
            </a:r>
            <a:r>
              <a:rPr lang="en-US" sz="3600" dirty="0">
                <a:solidFill>
                  <a:schemeClr val="bg1"/>
                </a:solidFill>
              </a:rPr>
              <a:t>example:</a:t>
            </a:r>
          </a:p>
          <a:p>
            <a:r>
              <a:rPr lang="en-US" sz="3600" dirty="0">
                <a:solidFill>
                  <a:schemeClr val="bg1"/>
                </a:solidFill>
              </a:rPr>
              <a:t>Act as a professional UI/UX designer and frontend developer.</a:t>
            </a:r>
          </a:p>
          <a:p>
            <a:r>
              <a:rPr lang="en-US" sz="3600" dirty="0">
                <a:solidFill>
                  <a:schemeClr val="bg1"/>
                </a:solidFill>
              </a:rPr>
              <a:t> </a:t>
            </a:r>
          </a:p>
          <a:p>
            <a:r>
              <a:rPr lang="en-US" sz="3600" dirty="0">
                <a:solidFill>
                  <a:schemeClr val="bg1"/>
                </a:solidFill>
              </a:rPr>
              <a:t>Create a modern landing page for a digital payment platform.</a:t>
            </a:r>
          </a:p>
          <a:p>
            <a:r>
              <a:rPr lang="en-US" sz="3600" dirty="0">
                <a:solidFill>
                  <a:schemeClr val="bg1"/>
                </a:solidFill>
              </a:rPr>
              <a:t> </a:t>
            </a:r>
          </a:p>
          <a:p>
            <a:r>
              <a:rPr lang="en-US" sz="3600" dirty="0">
                <a:solidFill>
                  <a:schemeClr val="bg1"/>
                </a:solidFill>
              </a:rPr>
              <a:t>Technology:</a:t>
            </a:r>
          </a:p>
          <a:p>
            <a:r>
              <a:rPr lang="en-US" sz="3600" dirty="0">
                <a:solidFill>
                  <a:schemeClr val="bg1"/>
                </a:solidFill>
              </a:rPr>
              <a:t>- HTML5</a:t>
            </a:r>
          </a:p>
          <a:p>
            <a:r>
              <a:rPr lang="en-US" sz="3600" dirty="0">
                <a:solidFill>
                  <a:schemeClr val="bg1"/>
                </a:solidFill>
              </a:rPr>
              <a:t>- CSS3</a:t>
            </a:r>
          </a:p>
          <a:p>
            <a:r>
              <a:rPr lang="en-US" sz="3600" dirty="0">
                <a:solidFill>
                  <a:schemeClr val="bg1"/>
                </a:solidFill>
              </a:rPr>
              <a:t>- Bootstrap 5</a:t>
            </a:r>
          </a:p>
          <a:p>
            <a:pPr marL="571500" indent="-571500">
              <a:buFontTx/>
              <a:buChar char="-"/>
            </a:pPr>
            <a:r>
              <a:rPr lang="en-US" sz="3600" dirty="0" smtClean="0">
                <a:solidFill>
                  <a:schemeClr val="bg1"/>
                </a:solidFill>
              </a:rPr>
              <a:t>JavaScript</a:t>
            </a:r>
          </a:p>
          <a:p>
            <a:pPr marL="571500" indent="-571500">
              <a:buFontTx/>
              <a:buChar char="-"/>
            </a:pPr>
            <a:endParaRPr lang="en-US" sz="3600" dirty="0">
              <a:solidFill>
                <a:schemeClr val="bg1"/>
              </a:solidFill>
            </a:endParaRPr>
          </a:p>
          <a:p>
            <a:r>
              <a:rPr lang="en-US" sz="3600" dirty="0">
                <a:solidFill>
                  <a:schemeClr val="bg1"/>
                </a:solidFill>
              </a:rPr>
              <a:t>Design:</a:t>
            </a:r>
          </a:p>
          <a:p>
            <a:r>
              <a:rPr lang="en-US" sz="3600" dirty="0">
                <a:solidFill>
                  <a:schemeClr val="bg1"/>
                </a:solidFill>
              </a:rPr>
              <a:t>- Modern</a:t>
            </a:r>
          </a:p>
          <a:p>
            <a:r>
              <a:rPr lang="en-US" sz="3600" dirty="0">
                <a:solidFill>
                  <a:schemeClr val="bg1"/>
                </a:solidFill>
              </a:rPr>
              <a:t>- Professional</a:t>
            </a:r>
          </a:p>
          <a:p>
            <a:r>
              <a:rPr lang="en-US" sz="3600" dirty="0">
                <a:solidFill>
                  <a:schemeClr val="bg1"/>
                </a:solidFill>
              </a:rPr>
              <a:t>- Clean</a:t>
            </a:r>
          </a:p>
          <a:p>
            <a:r>
              <a:rPr lang="en-US" sz="3600" dirty="0">
                <a:solidFill>
                  <a:schemeClr val="bg1"/>
                </a:solidFill>
              </a:rPr>
              <a:t>- Mobile-first</a:t>
            </a:r>
          </a:p>
          <a:p>
            <a:r>
              <a:rPr lang="en-US" sz="3600" dirty="0">
                <a:solidFill>
                  <a:schemeClr val="bg1"/>
                </a:solidFill>
              </a:rPr>
              <a:t>- Minimal</a:t>
            </a:r>
          </a:p>
          <a:p>
            <a:endParaRPr lang="en-US" sz="3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65349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2051777" y="1904800"/>
            <a:ext cx="13722913" cy="13722913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184300" y="-5129608"/>
            <a:ext cx="7034408" cy="7034408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4433773" y="9062399"/>
            <a:ext cx="5143500" cy="5143500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 rot="5400000">
            <a:off x="-4685509" y="3955733"/>
            <a:ext cx="10536641" cy="2375534"/>
          </a:xfrm>
          <a:custGeom>
            <a:avLst/>
            <a:gdLst/>
            <a:ahLst/>
            <a:cxnLst/>
            <a:rect l="l" t="t" r="r" b="b"/>
            <a:pathLst>
              <a:path w="10536641" h="2375534">
                <a:moveTo>
                  <a:pt x="0" y="0"/>
                </a:moveTo>
                <a:lnTo>
                  <a:pt x="10536641" y="0"/>
                </a:lnTo>
                <a:lnTo>
                  <a:pt x="10536641" y="2375534"/>
                </a:lnTo>
                <a:lnTo>
                  <a:pt x="0" y="237553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7194118" y="-1612404"/>
            <a:ext cx="5014772" cy="4449470"/>
          </a:xfrm>
          <a:custGeom>
            <a:avLst/>
            <a:gdLst/>
            <a:ahLst/>
            <a:cxnLst/>
            <a:rect l="l" t="t" r="r" b="b"/>
            <a:pathLst>
              <a:path w="5014772" h="4449470">
                <a:moveTo>
                  <a:pt x="0" y="0"/>
                </a:moveTo>
                <a:lnTo>
                  <a:pt x="5014772" y="0"/>
                </a:lnTo>
                <a:lnTo>
                  <a:pt x="5014772" y="4449471"/>
                </a:lnTo>
                <a:lnTo>
                  <a:pt x="0" y="444947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6184300" y="7883197"/>
            <a:ext cx="5014772" cy="4449470"/>
          </a:xfrm>
          <a:custGeom>
            <a:avLst/>
            <a:gdLst/>
            <a:ahLst/>
            <a:cxnLst/>
            <a:rect l="l" t="t" r="r" b="b"/>
            <a:pathLst>
              <a:path w="5014772" h="4449470">
                <a:moveTo>
                  <a:pt x="0" y="0"/>
                </a:moveTo>
                <a:lnTo>
                  <a:pt x="5014772" y="0"/>
                </a:lnTo>
                <a:lnTo>
                  <a:pt x="5014772" y="4449471"/>
                </a:lnTo>
                <a:lnTo>
                  <a:pt x="0" y="444947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11671136" y="3426200"/>
            <a:ext cx="5440240" cy="4114800"/>
          </a:xfrm>
          <a:custGeom>
            <a:avLst/>
            <a:gdLst/>
            <a:ahLst/>
            <a:cxnLst/>
            <a:rect l="l" t="t" r="r" b="b"/>
            <a:pathLst>
              <a:path w="5440240" h="4114800">
                <a:moveTo>
                  <a:pt x="0" y="0"/>
                </a:moveTo>
                <a:lnTo>
                  <a:pt x="5440241" y="0"/>
                </a:lnTo>
                <a:lnTo>
                  <a:pt x="5440241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7924801" y="1179427"/>
            <a:ext cx="9210416" cy="169277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605"/>
              </a:lnSpc>
            </a:pPr>
            <a:r>
              <a:rPr lang="en-US" sz="6600" b="1" dirty="0"/>
              <a:t>Components of a Good Web Design Prompt</a:t>
            </a:r>
            <a:endParaRPr lang="en-US" sz="606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1241760" y="3801369"/>
            <a:ext cx="8409932" cy="83099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</a:rPr>
              <a:t>Sections:</a:t>
            </a:r>
          </a:p>
          <a:p>
            <a:r>
              <a:rPr lang="en-US" sz="3600" dirty="0">
                <a:solidFill>
                  <a:schemeClr val="bg1"/>
                </a:solidFill>
              </a:rPr>
              <a:t>- </a:t>
            </a:r>
            <a:r>
              <a:rPr lang="en-US" sz="3600" dirty="0" err="1">
                <a:solidFill>
                  <a:schemeClr val="bg1"/>
                </a:solidFill>
              </a:rPr>
              <a:t>Navbar</a:t>
            </a:r>
            <a:endParaRPr lang="en-US" sz="3600" dirty="0">
              <a:solidFill>
                <a:schemeClr val="bg1"/>
              </a:solidFill>
            </a:endParaRPr>
          </a:p>
          <a:p>
            <a:r>
              <a:rPr lang="en-US" sz="3600" dirty="0">
                <a:solidFill>
                  <a:schemeClr val="bg1"/>
                </a:solidFill>
              </a:rPr>
              <a:t>- Hero</a:t>
            </a:r>
          </a:p>
          <a:p>
            <a:r>
              <a:rPr lang="en-US" sz="3600" dirty="0">
                <a:solidFill>
                  <a:schemeClr val="bg1"/>
                </a:solidFill>
              </a:rPr>
              <a:t>- Services</a:t>
            </a:r>
          </a:p>
          <a:p>
            <a:r>
              <a:rPr lang="en-US" sz="3600" dirty="0">
                <a:solidFill>
                  <a:schemeClr val="bg1"/>
                </a:solidFill>
              </a:rPr>
              <a:t>- Features</a:t>
            </a:r>
          </a:p>
          <a:p>
            <a:r>
              <a:rPr lang="en-US" sz="3600" dirty="0">
                <a:solidFill>
                  <a:schemeClr val="bg1"/>
                </a:solidFill>
              </a:rPr>
              <a:t>- Testimonials</a:t>
            </a:r>
          </a:p>
          <a:p>
            <a:r>
              <a:rPr lang="en-US" sz="3600" dirty="0">
                <a:solidFill>
                  <a:schemeClr val="bg1"/>
                </a:solidFill>
              </a:rPr>
              <a:t>- FAQ</a:t>
            </a:r>
          </a:p>
          <a:p>
            <a:r>
              <a:rPr lang="en-US" sz="3600" dirty="0">
                <a:solidFill>
                  <a:schemeClr val="bg1"/>
                </a:solidFill>
              </a:rPr>
              <a:t>- CTA</a:t>
            </a:r>
          </a:p>
          <a:p>
            <a:r>
              <a:rPr lang="en-US" sz="3600" dirty="0">
                <a:solidFill>
                  <a:schemeClr val="bg1"/>
                </a:solidFill>
              </a:rPr>
              <a:t>- Footer</a:t>
            </a:r>
          </a:p>
          <a:p>
            <a:r>
              <a:rPr lang="en-US" sz="3600" dirty="0">
                <a:solidFill>
                  <a:schemeClr val="bg1"/>
                </a:solidFill>
              </a:rPr>
              <a:t> </a:t>
            </a:r>
          </a:p>
          <a:p>
            <a:r>
              <a:rPr lang="en-US" sz="3600" dirty="0">
                <a:solidFill>
                  <a:schemeClr val="bg1"/>
                </a:solidFill>
              </a:rPr>
              <a:t>The website must be responsive on mobile, tablet and desktop.</a:t>
            </a:r>
          </a:p>
          <a:p>
            <a:r>
              <a:rPr lang="en-US" sz="3600" dirty="0">
                <a:solidFill>
                  <a:schemeClr val="bg1"/>
                </a:solidFill>
              </a:rPr>
              <a:t> </a:t>
            </a:r>
          </a:p>
          <a:p>
            <a:r>
              <a:rPr lang="en-US" sz="3600" dirty="0">
                <a:solidFill>
                  <a:schemeClr val="bg1"/>
                </a:solidFill>
              </a:rPr>
              <a:t>Return the complete HTML, CSS and JavaScript code.</a:t>
            </a:r>
          </a:p>
        </p:txBody>
      </p:sp>
    </p:spTree>
    <p:extLst>
      <p:ext uri="{BB962C8B-B14F-4D97-AF65-F5344CB8AC3E}">
        <p14:creationId xmlns:p14="http://schemas.microsoft.com/office/powerpoint/2010/main" val="1297107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368171">
            <a:off x="6682386" y="2564091"/>
            <a:ext cx="8325708" cy="7947266"/>
          </a:xfrm>
          <a:custGeom>
            <a:avLst/>
            <a:gdLst/>
            <a:ahLst/>
            <a:cxnLst/>
            <a:rect l="l" t="t" r="r" b="b"/>
            <a:pathLst>
              <a:path w="8325708" h="7947266">
                <a:moveTo>
                  <a:pt x="0" y="0"/>
                </a:moveTo>
                <a:lnTo>
                  <a:pt x="8325708" y="0"/>
                </a:lnTo>
                <a:lnTo>
                  <a:pt x="8325708" y="7947266"/>
                </a:lnTo>
                <a:lnTo>
                  <a:pt x="0" y="79472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8999"/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-4538771" y="-249641"/>
            <a:ext cx="10786283" cy="10786283"/>
            <a:chOff x="0" y="0"/>
            <a:chExt cx="812800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545393" y="1028700"/>
            <a:ext cx="3833305" cy="8229600"/>
            <a:chOff x="0" y="0"/>
            <a:chExt cx="593879" cy="12749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93879" cy="1274980"/>
            </a:xfrm>
            <a:custGeom>
              <a:avLst/>
              <a:gdLst/>
              <a:ahLst/>
              <a:cxnLst/>
              <a:rect l="l" t="t" r="r" b="b"/>
              <a:pathLst>
                <a:path w="593879" h="1274980">
                  <a:moveTo>
                    <a:pt x="201965" y="0"/>
                  </a:moveTo>
                  <a:lnTo>
                    <a:pt x="391915" y="0"/>
                  </a:lnTo>
                  <a:cubicBezTo>
                    <a:pt x="503457" y="0"/>
                    <a:pt x="593879" y="90423"/>
                    <a:pt x="593879" y="201965"/>
                  </a:cubicBezTo>
                  <a:lnTo>
                    <a:pt x="593879" y="1073016"/>
                  </a:lnTo>
                  <a:cubicBezTo>
                    <a:pt x="593879" y="1126580"/>
                    <a:pt x="572601" y="1177951"/>
                    <a:pt x="534725" y="1215826"/>
                  </a:cubicBezTo>
                  <a:cubicBezTo>
                    <a:pt x="496850" y="1253702"/>
                    <a:pt x="445479" y="1274980"/>
                    <a:pt x="391915" y="1274980"/>
                  </a:cubicBezTo>
                  <a:lnTo>
                    <a:pt x="201965" y="1274980"/>
                  </a:lnTo>
                  <a:cubicBezTo>
                    <a:pt x="90423" y="1274980"/>
                    <a:pt x="0" y="1184558"/>
                    <a:pt x="0" y="1073016"/>
                  </a:cubicBezTo>
                  <a:lnTo>
                    <a:pt x="0" y="201965"/>
                  </a:lnTo>
                  <a:cubicBezTo>
                    <a:pt x="0" y="90423"/>
                    <a:pt x="90423" y="0"/>
                    <a:pt x="201965" y="0"/>
                  </a:cubicBezTo>
                  <a:close/>
                </a:path>
              </a:pathLst>
            </a:custGeom>
            <a:blipFill>
              <a:blip r:embed="rId4"/>
              <a:stretch>
                <a:fillRect l="-43035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17259300" y="-499283"/>
            <a:ext cx="10786283" cy="10786283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 rot="5400000">
            <a:off x="-4080554" y="3955733"/>
            <a:ext cx="10536641" cy="2375534"/>
          </a:xfrm>
          <a:custGeom>
            <a:avLst/>
            <a:gdLst/>
            <a:ahLst/>
            <a:cxnLst/>
            <a:rect l="l" t="t" r="r" b="b"/>
            <a:pathLst>
              <a:path w="10536641" h="2375534">
                <a:moveTo>
                  <a:pt x="0" y="0"/>
                </a:moveTo>
                <a:lnTo>
                  <a:pt x="10536642" y="0"/>
                </a:lnTo>
                <a:lnTo>
                  <a:pt x="10536642" y="2375534"/>
                </a:lnTo>
                <a:lnTo>
                  <a:pt x="0" y="237553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7259300" y="4480324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=""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6582687" y="-2057400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=""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5240933" y="8744932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=""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9677400" y="1179427"/>
            <a:ext cx="7457816" cy="84638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605"/>
              </a:lnSpc>
            </a:pPr>
            <a:r>
              <a:rPr lang="en-US" sz="6600" b="1" dirty="0"/>
              <a:t>The Role in a Prompt</a:t>
            </a:r>
            <a:endParaRPr lang="en-US" sz="606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7739430" y="2400300"/>
            <a:ext cx="9261351" cy="64017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3200" dirty="0"/>
              <a:t>A </a:t>
            </a:r>
            <a:r>
              <a:rPr lang="en-US" sz="3200" b="1" dirty="0"/>
              <a:t>role</a:t>
            </a:r>
            <a:r>
              <a:rPr lang="en-US" sz="3200" dirty="0"/>
              <a:t> tells the AI what type of expert you want it to behave like.</a:t>
            </a:r>
          </a:p>
          <a:p>
            <a:r>
              <a:rPr lang="en-US" sz="3200" dirty="0"/>
              <a:t>For example:</a:t>
            </a:r>
          </a:p>
          <a:p>
            <a:r>
              <a:rPr lang="en-US" sz="3200" dirty="0"/>
              <a:t>Act as a professional web designer.</a:t>
            </a:r>
          </a:p>
          <a:p>
            <a:r>
              <a:rPr lang="en-US" sz="3200" dirty="0"/>
              <a:t>Or:</a:t>
            </a:r>
          </a:p>
          <a:p>
            <a:r>
              <a:rPr lang="en-US" sz="3200" dirty="0"/>
              <a:t>Act as a senior frontend developer.</a:t>
            </a:r>
          </a:p>
          <a:p>
            <a:r>
              <a:rPr lang="en-US" sz="3200" dirty="0"/>
              <a:t>Or:</a:t>
            </a:r>
          </a:p>
          <a:p>
            <a:r>
              <a:rPr lang="en-US" sz="3200" dirty="0"/>
              <a:t>Act as a UI/UX designer specializing in modern </a:t>
            </a:r>
            <a:r>
              <a:rPr lang="en-US" sz="3200" dirty="0" err="1"/>
              <a:t>SaaS</a:t>
            </a:r>
            <a:r>
              <a:rPr lang="en-US" sz="3200" dirty="0"/>
              <a:t> websites.</a:t>
            </a:r>
          </a:p>
          <a:p>
            <a:r>
              <a:rPr lang="en-US" sz="3200" dirty="0"/>
              <a:t>Or:</a:t>
            </a:r>
          </a:p>
          <a:p>
            <a:r>
              <a:rPr lang="en-US" sz="3200" dirty="0"/>
              <a:t>Act as a senior Bootstrap developer</a:t>
            </a:r>
            <a:r>
              <a:rPr lang="en-US" sz="3200" dirty="0" smtClean="0"/>
              <a:t>.</a:t>
            </a:r>
          </a:p>
          <a:p>
            <a:endParaRPr lang="en-US" sz="3200" dirty="0"/>
          </a:p>
          <a:p>
            <a:endParaRPr lang="en-US" sz="3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368171">
            <a:off x="6682386" y="2564091"/>
            <a:ext cx="8325708" cy="7947266"/>
          </a:xfrm>
          <a:custGeom>
            <a:avLst/>
            <a:gdLst/>
            <a:ahLst/>
            <a:cxnLst/>
            <a:rect l="l" t="t" r="r" b="b"/>
            <a:pathLst>
              <a:path w="8325708" h="7947266">
                <a:moveTo>
                  <a:pt x="0" y="0"/>
                </a:moveTo>
                <a:lnTo>
                  <a:pt x="8325708" y="0"/>
                </a:lnTo>
                <a:lnTo>
                  <a:pt x="8325708" y="7947266"/>
                </a:lnTo>
                <a:lnTo>
                  <a:pt x="0" y="79472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8999"/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-4538771" y="-249641"/>
            <a:ext cx="10786283" cy="10786283"/>
            <a:chOff x="0" y="0"/>
            <a:chExt cx="812800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545393" y="1028700"/>
            <a:ext cx="3833305" cy="8229600"/>
            <a:chOff x="0" y="0"/>
            <a:chExt cx="593879" cy="12749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93879" cy="1274980"/>
            </a:xfrm>
            <a:custGeom>
              <a:avLst/>
              <a:gdLst/>
              <a:ahLst/>
              <a:cxnLst/>
              <a:rect l="l" t="t" r="r" b="b"/>
              <a:pathLst>
                <a:path w="593879" h="1274980">
                  <a:moveTo>
                    <a:pt x="201965" y="0"/>
                  </a:moveTo>
                  <a:lnTo>
                    <a:pt x="391915" y="0"/>
                  </a:lnTo>
                  <a:cubicBezTo>
                    <a:pt x="503457" y="0"/>
                    <a:pt x="593879" y="90423"/>
                    <a:pt x="593879" y="201965"/>
                  </a:cubicBezTo>
                  <a:lnTo>
                    <a:pt x="593879" y="1073016"/>
                  </a:lnTo>
                  <a:cubicBezTo>
                    <a:pt x="593879" y="1126580"/>
                    <a:pt x="572601" y="1177951"/>
                    <a:pt x="534725" y="1215826"/>
                  </a:cubicBezTo>
                  <a:cubicBezTo>
                    <a:pt x="496850" y="1253702"/>
                    <a:pt x="445479" y="1274980"/>
                    <a:pt x="391915" y="1274980"/>
                  </a:cubicBezTo>
                  <a:lnTo>
                    <a:pt x="201965" y="1274980"/>
                  </a:lnTo>
                  <a:cubicBezTo>
                    <a:pt x="90423" y="1274980"/>
                    <a:pt x="0" y="1184558"/>
                    <a:pt x="0" y="1073016"/>
                  </a:cubicBezTo>
                  <a:lnTo>
                    <a:pt x="0" y="201965"/>
                  </a:lnTo>
                  <a:cubicBezTo>
                    <a:pt x="0" y="90423"/>
                    <a:pt x="90423" y="0"/>
                    <a:pt x="201965" y="0"/>
                  </a:cubicBezTo>
                  <a:close/>
                </a:path>
              </a:pathLst>
            </a:custGeom>
            <a:blipFill>
              <a:blip r:embed="rId4"/>
              <a:stretch>
                <a:fillRect l="-43035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17259300" y="-499283"/>
            <a:ext cx="10786283" cy="10786283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 rot="5400000">
            <a:off x="-4080554" y="3955733"/>
            <a:ext cx="10536641" cy="2375534"/>
          </a:xfrm>
          <a:custGeom>
            <a:avLst/>
            <a:gdLst/>
            <a:ahLst/>
            <a:cxnLst/>
            <a:rect l="l" t="t" r="r" b="b"/>
            <a:pathLst>
              <a:path w="10536641" h="2375534">
                <a:moveTo>
                  <a:pt x="0" y="0"/>
                </a:moveTo>
                <a:lnTo>
                  <a:pt x="10536642" y="0"/>
                </a:lnTo>
                <a:lnTo>
                  <a:pt x="10536642" y="2375534"/>
                </a:lnTo>
                <a:lnTo>
                  <a:pt x="0" y="237553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7259300" y="4480324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=""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6582687" y="-2057400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=""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5240933" y="8744932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=""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9677400" y="1179427"/>
            <a:ext cx="7457816" cy="84638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605"/>
              </a:lnSpc>
            </a:pPr>
            <a:r>
              <a:rPr lang="en-US" sz="6600" b="1" dirty="0"/>
              <a:t>The Role in a Prompt</a:t>
            </a:r>
            <a:endParaRPr lang="en-US" sz="606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7739430" y="2400300"/>
            <a:ext cx="9261351" cy="54168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3200" b="1" dirty="0"/>
              <a:t>Why roles are useful</a:t>
            </a:r>
            <a:endParaRPr lang="en-US" sz="3200" dirty="0"/>
          </a:p>
          <a:p>
            <a:r>
              <a:rPr lang="en-US" sz="3200" dirty="0"/>
              <a:t>A role provides context.</a:t>
            </a:r>
          </a:p>
          <a:p>
            <a:r>
              <a:rPr lang="en-US" sz="3200" dirty="0"/>
              <a:t>Compare:</a:t>
            </a:r>
          </a:p>
          <a:p>
            <a:r>
              <a:rPr lang="en-US" sz="3200" dirty="0"/>
              <a:t>Create a dashboard.</a:t>
            </a:r>
          </a:p>
          <a:p>
            <a:r>
              <a:rPr lang="en-US" sz="3200" dirty="0"/>
              <a:t>with:</a:t>
            </a:r>
          </a:p>
          <a:p>
            <a:r>
              <a:rPr lang="en-US" sz="3200" dirty="0"/>
              <a:t>Act as a senior UI/UX designer and frontend developer.</a:t>
            </a:r>
          </a:p>
          <a:p>
            <a:r>
              <a:rPr lang="en-US" sz="3200" dirty="0"/>
              <a:t> </a:t>
            </a:r>
          </a:p>
          <a:p>
            <a:r>
              <a:rPr lang="en-US" sz="3200" dirty="0"/>
              <a:t>Design a professional admin dashboard for an e-commerce platform.</a:t>
            </a:r>
          </a:p>
          <a:p>
            <a:r>
              <a:rPr lang="en-US" sz="3200" dirty="0"/>
              <a:t>The second prompt establishes the expected expertise and context.</a:t>
            </a:r>
          </a:p>
        </p:txBody>
      </p:sp>
    </p:spTree>
    <p:extLst>
      <p:ext uri="{BB962C8B-B14F-4D97-AF65-F5344CB8AC3E}">
        <p14:creationId xmlns:p14="http://schemas.microsoft.com/office/powerpoint/2010/main" val="5387536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3768924" y="6735187"/>
            <a:ext cx="9460517" cy="9460517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377858" y="7663815"/>
            <a:ext cx="5246370" cy="5246370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2"/>
              <a:stretch>
                <a:fillRect t="-24906" b="-24906"/>
              </a:stretch>
            </a:blipFill>
          </p:spPr>
        </p:sp>
      </p:grpSp>
      <p:sp>
        <p:nvSpPr>
          <p:cNvPr id="7" name="Freeform 7"/>
          <p:cNvSpPr/>
          <p:nvPr/>
        </p:nvSpPr>
        <p:spPr>
          <a:xfrm rot="-1368171">
            <a:off x="8990179" y="3362764"/>
            <a:ext cx="8325708" cy="7947266"/>
          </a:xfrm>
          <a:custGeom>
            <a:avLst/>
            <a:gdLst/>
            <a:ahLst/>
            <a:cxnLst/>
            <a:rect l="l" t="t" r="r" b="b"/>
            <a:pathLst>
              <a:path w="8325708" h="7947266">
                <a:moveTo>
                  <a:pt x="0" y="0"/>
                </a:moveTo>
                <a:lnTo>
                  <a:pt x="8325708" y="0"/>
                </a:lnTo>
                <a:lnTo>
                  <a:pt x="8325708" y="7947266"/>
                </a:lnTo>
                <a:lnTo>
                  <a:pt x="0" y="794726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8999"/>
              <a:extLst>
                <a:ext uri="{96DAC541-7B7A-43D3-8B79-37D633B846F1}">
                  <asvg:svgBlip xmlns=""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12596407" y="-5908704"/>
            <a:ext cx="9460517" cy="946051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2663772" y="-2623185"/>
            <a:ext cx="5246370" cy="5246370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5"/>
              <a:stretch>
                <a:fillRect b="-50093"/>
              </a:stretch>
            </a:blipFill>
          </p:spPr>
        </p:sp>
      </p:grpSp>
      <p:sp>
        <p:nvSpPr>
          <p:cNvPr id="13" name="Freeform 13"/>
          <p:cNvSpPr/>
          <p:nvPr/>
        </p:nvSpPr>
        <p:spPr>
          <a:xfrm>
            <a:off x="16697199" y="1028700"/>
            <a:ext cx="5359726" cy="4755538"/>
          </a:xfrm>
          <a:custGeom>
            <a:avLst/>
            <a:gdLst/>
            <a:ahLst/>
            <a:cxnLst/>
            <a:rect l="l" t="t" r="r" b="b"/>
            <a:pathLst>
              <a:path w="5359726" h="4755538">
                <a:moveTo>
                  <a:pt x="0" y="0"/>
                </a:moveTo>
                <a:lnTo>
                  <a:pt x="5359725" y="0"/>
                </a:lnTo>
                <a:lnTo>
                  <a:pt x="5359725" y="4755538"/>
                </a:lnTo>
                <a:lnTo>
                  <a:pt x="0" y="475553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-3768924" y="6446453"/>
            <a:ext cx="5359726" cy="4755538"/>
          </a:xfrm>
          <a:custGeom>
            <a:avLst/>
            <a:gdLst/>
            <a:ahLst/>
            <a:cxnLst/>
            <a:rect l="l" t="t" r="r" b="b"/>
            <a:pathLst>
              <a:path w="5359726" h="4755538">
                <a:moveTo>
                  <a:pt x="0" y="0"/>
                </a:moveTo>
                <a:lnTo>
                  <a:pt x="5359725" y="0"/>
                </a:lnTo>
                <a:lnTo>
                  <a:pt x="5359725" y="4755538"/>
                </a:lnTo>
                <a:lnTo>
                  <a:pt x="0" y="475553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6088290" y="2059966"/>
            <a:ext cx="6111420" cy="868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605"/>
              </a:lnSpc>
            </a:pPr>
            <a:r>
              <a:rPr lang="en-US" sz="6600" b="1" dirty="0"/>
              <a:t>Defining the Task</a:t>
            </a:r>
            <a:endParaRPr lang="en-US" sz="606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5242061" y="3217336"/>
            <a:ext cx="9411629" cy="667875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2800" dirty="0"/>
              <a:t>The task tells AI exactly what you want it to accomplish.</a:t>
            </a:r>
          </a:p>
          <a:p>
            <a:r>
              <a:rPr lang="en-US" sz="2800" dirty="0"/>
              <a:t>Examples: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/>
              <a:t>Create a landing page.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/>
              <a:t>Generate the HTML structure for this design.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/>
              <a:t>Convert this design into Bootstrap 5.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/>
              <a:t>Make this website responsive.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/>
              <a:t>Improve the navigation bar.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/>
              <a:t>Debug this JavaScript code.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/>
              <a:t>Create a dashboard UI</a:t>
            </a:r>
            <a:r>
              <a:rPr lang="en-US" sz="2800" dirty="0" smtClean="0"/>
              <a:t>.</a:t>
            </a:r>
          </a:p>
          <a:p>
            <a:pPr>
              <a:lnSpc>
                <a:spcPct val="150000"/>
              </a:lnSpc>
            </a:pPr>
            <a:endParaRPr lang="en-US" sz="2800" dirty="0"/>
          </a:p>
          <a:p>
            <a:pPr>
              <a:lnSpc>
                <a:spcPct val="150000"/>
              </a:lnSpc>
            </a:pPr>
            <a:r>
              <a:rPr lang="en-US" sz="2800" dirty="0"/>
              <a:t>A task should be specific.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4538771" y="-249641"/>
            <a:ext cx="10786283" cy="10786283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2545393" y="1028700"/>
            <a:ext cx="3833305" cy="8229600"/>
            <a:chOff x="0" y="0"/>
            <a:chExt cx="593879" cy="127498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593879" cy="1274980"/>
            </a:xfrm>
            <a:custGeom>
              <a:avLst/>
              <a:gdLst/>
              <a:ahLst/>
              <a:cxnLst/>
              <a:rect l="l" t="t" r="r" b="b"/>
              <a:pathLst>
                <a:path w="593879" h="1274980">
                  <a:moveTo>
                    <a:pt x="201965" y="0"/>
                  </a:moveTo>
                  <a:lnTo>
                    <a:pt x="391915" y="0"/>
                  </a:lnTo>
                  <a:cubicBezTo>
                    <a:pt x="503457" y="0"/>
                    <a:pt x="593879" y="90423"/>
                    <a:pt x="593879" y="201965"/>
                  </a:cubicBezTo>
                  <a:lnTo>
                    <a:pt x="593879" y="1073016"/>
                  </a:lnTo>
                  <a:cubicBezTo>
                    <a:pt x="593879" y="1126580"/>
                    <a:pt x="572601" y="1177951"/>
                    <a:pt x="534725" y="1215826"/>
                  </a:cubicBezTo>
                  <a:cubicBezTo>
                    <a:pt x="496850" y="1253702"/>
                    <a:pt x="445479" y="1274980"/>
                    <a:pt x="391915" y="1274980"/>
                  </a:cubicBezTo>
                  <a:lnTo>
                    <a:pt x="201965" y="1274980"/>
                  </a:lnTo>
                  <a:cubicBezTo>
                    <a:pt x="90423" y="1274980"/>
                    <a:pt x="0" y="1184558"/>
                    <a:pt x="0" y="1073016"/>
                  </a:cubicBezTo>
                  <a:lnTo>
                    <a:pt x="0" y="201965"/>
                  </a:lnTo>
                  <a:cubicBezTo>
                    <a:pt x="0" y="90423"/>
                    <a:pt x="90423" y="0"/>
                    <a:pt x="201965" y="0"/>
                  </a:cubicBezTo>
                  <a:close/>
                </a:path>
              </a:pathLst>
            </a:custGeom>
            <a:blipFill>
              <a:blip r:embed="rId2"/>
              <a:stretch>
                <a:fillRect l="-21627" r="-21627"/>
              </a:stretch>
            </a:blipFill>
          </p:spPr>
        </p:sp>
      </p:grpSp>
      <p:sp>
        <p:nvSpPr>
          <p:cNvPr id="7" name="Freeform 7"/>
          <p:cNvSpPr/>
          <p:nvPr/>
        </p:nvSpPr>
        <p:spPr>
          <a:xfrm rot="-1368171">
            <a:off x="3757609" y="2102898"/>
            <a:ext cx="8325708" cy="7947266"/>
          </a:xfrm>
          <a:custGeom>
            <a:avLst/>
            <a:gdLst/>
            <a:ahLst/>
            <a:cxnLst/>
            <a:rect l="l" t="t" r="r" b="b"/>
            <a:pathLst>
              <a:path w="8325708" h="7947266">
                <a:moveTo>
                  <a:pt x="0" y="0"/>
                </a:moveTo>
                <a:lnTo>
                  <a:pt x="8325708" y="0"/>
                </a:lnTo>
                <a:lnTo>
                  <a:pt x="8325708" y="7947267"/>
                </a:lnTo>
                <a:lnTo>
                  <a:pt x="0" y="794726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8999"/>
              <a:extLst>
                <a:ext uri="{96DAC541-7B7A-43D3-8B79-37D633B846F1}">
                  <asvg:svgBlip xmlns=""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17354291" y="-499283"/>
            <a:ext cx="10786283" cy="10786283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 rot="5400000">
            <a:off x="-4080554" y="3955733"/>
            <a:ext cx="10536641" cy="2375534"/>
          </a:xfrm>
          <a:custGeom>
            <a:avLst/>
            <a:gdLst/>
            <a:ahLst/>
            <a:cxnLst/>
            <a:rect l="l" t="t" r="r" b="b"/>
            <a:pathLst>
              <a:path w="10536641" h="2375534">
                <a:moveTo>
                  <a:pt x="0" y="0"/>
                </a:moveTo>
                <a:lnTo>
                  <a:pt x="10536642" y="0"/>
                </a:lnTo>
                <a:lnTo>
                  <a:pt x="10536642" y="2375534"/>
                </a:lnTo>
                <a:lnTo>
                  <a:pt x="0" y="237553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7354291" y="4480324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=""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9448800" y="1179427"/>
            <a:ext cx="6581941" cy="10156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6600" b="1" dirty="0"/>
              <a:t>Providing Context</a:t>
            </a:r>
            <a:endParaRPr lang="en-US" sz="6600" dirty="0"/>
          </a:p>
        </p:txBody>
      </p:sp>
      <p:sp>
        <p:nvSpPr>
          <p:cNvPr id="14" name="TextBox 14"/>
          <p:cNvSpPr txBox="1"/>
          <p:nvPr/>
        </p:nvSpPr>
        <p:spPr>
          <a:xfrm>
            <a:off x="7873865" y="2628900"/>
            <a:ext cx="9261351" cy="68941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3200" dirty="0"/>
              <a:t>Context explains what the project is about.</a:t>
            </a:r>
          </a:p>
          <a:p>
            <a:r>
              <a:rPr lang="en-US" sz="3200" dirty="0"/>
              <a:t>For example</a:t>
            </a:r>
            <a:r>
              <a:rPr lang="en-US" sz="3200" dirty="0" smtClean="0"/>
              <a:t>:</a:t>
            </a:r>
          </a:p>
          <a:p>
            <a:endParaRPr lang="en-US" sz="3200" dirty="0"/>
          </a:p>
          <a:p>
            <a:r>
              <a:rPr lang="en-US" sz="3200" dirty="0" smtClean="0"/>
              <a:t>“I </a:t>
            </a:r>
            <a:r>
              <a:rPr lang="en-US" sz="3200" dirty="0"/>
              <a:t>am building a digital services platform where users can</a:t>
            </a:r>
          </a:p>
          <a:p>
            <a:r>
              <a:rPr lang="en-US" sz="3200" dirty="0"/>
              <a:t>purchase airtime, data, TV subscriptions and other digital services</a:t>
            </a:r>
            <a:r>
              <a:rPr lang="en-US" sz="3200" dirty="0" smtClean="0"/>
              <a:t>.”</a:t>
            </a:r>
          </a:p>
          <a:p>
            <a:endParaRPr lang="en-US" sz="3200" dirty="0"/>
          </a:p>
          <a:p>
            <a:r>
              <a:rPr lang="en-US" sz="3200" dirty="0"/>
              <a:t>This is much better than simply saying</a:t>
            </a:r>
            <a:r>
              <a:rPr lang="en-US" sz="3200" dirty="0" smtClean="0"/>
              <a:t>:</a:t>
            </a:r>
          </a:p>
          <a:p>
            <a:endParaRPr lang="en-US" sz="3200" dirty="0"/>
          </a:p>
          <a:p>
            <a:r>
              <a:rPr lang="en-US" sz="3200" dirty="0" smtClean="0"/>
              <a:t>“Create </a:t>
            </a:r>
            <a:r>
              <a:rPr lang="en-US" sz="3200" dirty="0"/>
              <a:t>a dashboard</a:t>
            </a:r>
            <a:r>
              <a:rPr lang="en-US" sz="3200" dirty="0" smtClean="0"/>
              <a:t>.”</a:t>
            </a:r>
          </a:p>
          <a:p>
            <a:endParaRPr lang="en-US" sz="3200" dirty="0"/>
          </a:p>
          <a:p>
            <a:r>
              <a:rPr lang="en-US" sz="3200" dirty="0"/>
              <a:t>The AI now understands the type of application it is designing.</a:t>
            </a:r>
          </a:p>
        </p:txBody>
      </p:sp>
    </p:spTree>
    <p:extLst>
      <p:ext uri="{BB962C8B-B14F-4D97-AF65-F5344CB8AC3E}">
        <p14:creationId xmlns:p14="http://schemas.microsoft.com/office/powerpoint/2010/main" val="2739678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4538771" y="-249641"/>
            <a:ext cx="10786283" cy="10786283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2545393" y="1028700"/>
            <a:ext cx="3833305" cy="8229600"/>
            <a:chOff x="0" y="0"/>
            <a:chExt cx="593879" cy="127498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593879" cy="1274980"/>
            </a:xfrm>
            <a:custGeom>
              <a:avLst/>
              <a:gdLst/>
              <a:ahLst/>
              <a:cxnLst/>
              <a:rect l="l" t="t" r="r" b="b"/>
              <a:pathLst>
                <a:path w="593879" h="1274980">
                  <a:moveTo>
                    <a:pt x="201965" y="0"/>
                  </a:moveTo>
                  <a:lnTo>
                    <a:pt x="391915" y="0"/>
                  </a:lnTo>
                  <a:cubicBezTo>
                    <a:pt x="503457" y="0"/>
                    <a:pt x="593879" y="90423"/>
                    <a:pt x="593879" y="201965"/>
                  </a:cubicBezTo>
                  <a:lnTo>
                    <a:pt x="593879" y="1073016"/>
                  </a:lnTo>
                  <a:cubicBezTo>
                    <a:pt x="593879" y="1126580"/>
                    <a:pt x="572601" y="1177951"/>
                    <a:pt x="534725" y="1215826"/>
                  </a:cubicBezTo>
                  <a:cubicBezTo>
                    <a:pt x="496850" y="1253702"/>
                    <a:pt x="445479" y="1274980"/>
                    <a:pt x="391915" y="1274980"/>
                  </a:cubicBezTo>
                  <a:lnTo>
                    <a:pt x="201965" y="1274980"/>
                  </a:lnTo>
                  <a:cubicBezTo>
                    <a:pt x="90423" y="1274980"/>
                    <a:pt x="0" y="1184558"/>
                    <a:pt x="0" y="1073016"/>
                  </a:cubicBezTo>
                  <a:lnTo>
                    <a:pt x="0" y="201965"/>
                  </a:lnTo>
                  <a:cubicBezTo>
                    <a:pt x="0" y="90423"/>
                    <a:pt x="90423" y="0"/>
                    <a:pt x="201965" y="0"/>
                  </a:cubicBezTo>
                  <a:close/>
                </a:path>
              </a:pathLst>
            </a:custGeom>
            <a:blipFill>
              <a:blip r:embed="rId2"/>
              <a:stretch>
                <a:fillRect l="-21627" r="-21627"/>
              </a:stretch>
            </a:blipFill>
          </p:spPr>
        </p:sp>
      </p:grpSp>
      <p:sp>
        <p:nvSpPr>
          <p:cNvPr id="7" name="Freeform 7"/>
          <p:cNvSpPr/>
          <p:nvPr/>
        </p:nvSpPr>
        <p:spPr>
          <a:xfrm rot="-1368171">
            <a:off x="8138760" y="3002675"/>
            <a:ext cx="8325708" cy="7947266"/>
          </a:xfrm>
          <a:custGeom>
            <a:avLst/>
            <a:gdLst/>
            <a:ahLst/>
            <a:cxnLst/>
            <a:rect l="l" t="t" r="r" b="b"/>
            <a:pathLst>
              <a:path w="8325708" h="7947266">
                <a:moveTo>
                  <a:pt x="0" y="0"/>
                </a:moveTo>
                <a:lnTo>
                  <a:pt x="8325708" y="0"/>
                </a:lnTo>
                <a:lnTo>
                  <a:pt x="8325708" y="7947267"/>
                </a:lnTo>
                <a:lnTo>
                  <a:pt x="0" y="794726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8999"/>
              <a:extLst>
                <a:ext uri="{96DAC541-7B7A-43D3-8B79-37D633B846F1}">
                  <asvg:svgBlip xmlns=""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17354291" y="-499283"/>
            <a:ext cx="10786283" cy="10786283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 rot="5400000">
            <a:off x="-4080554" y="3955733"/>
            <a:ext cx="10536641" cy="2375534"/>
          </a:xfrm>
          <a:custGeom>
            <a:avLst/>
            <a:gdLst/>
            <a:ahLst/>
            <a:cxnLst/>
            <a:rect l="l" t="t" r="r" b="b"/>
            <a:pathLst>
              <a:path w="10536641" h="2375534">
                <a:moveTo>
                  <a:pt x="0" y="0"/>
                </a:moveTo>
                <a:lnTo>
                  <a:pt x="10536642" y="0"/>
                </a:lnTo>
                <a:lnTo>
                  <a:pt x="10536642" y="2375534"/>
                </a:lnTo>
                <a:lnTo>
                  <a:pt x="0" y="237553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7354291" y="4480324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=""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8686801" y="1179427"/>
            <a:ext cx="8448416" cy="17150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605"/>
              </a:lnSpc>
            </a:pPr>
            <a:r>
              <a:rPr lang="en-US" sz="6600" b="1" dirty="0"/>
              <a:t>Specifying the Target Users</a:t>
            </a:r>
            <a:endParaRPr lang="en-US" sz="606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7873865" y="2857500"/>
            <a:ext cx="9261351" cy="47397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2800" dirty="0"/>
              <a:t>A good prompt can describe who will use the website.</a:t>
            </a:r>
          </a:p>
          <a:p>
            <a:r>
              <a:rPr lang="en-US" sz="2800" dirty="0"/>
              <a:t>For example</a:t>
            </a:r>
            <a:r>
              <a:rPr lang="en-US" sz="2800" dirty="0" smtClean="0"/>
              <a:t>:</a:t>
            </a:r>
          </a:p>
          <a:p>
            <a:endParaRPr lang="en-US" sz="2800" dirty="0"/>
          </a:p>
          <a:p>
            <a:r>
              <a:rPr lang="en-US" sz="2800" dirty="0" smtClean="0"/>
              <a:t>“The </a:t>
            </a:r>
            <a:r>
              <a:rPr lang="en-US" sz="2800" dirty="0"/>
              <a:t>website is designed for Nigerian university students</a:t>
            </a:r>
          </a:p>
          <a:p>
            <a:r>
              <a:rPr lang="en-US" sz="2800" dirty="0"/>
              <a:t>between the ages of 18 and 30</a:t>
            </a:r>
            <a:r>
              <a:rPr lang="en-US" sz="2800" dirty="0" smtClean="0"/>
              <a:t>.”</a:t>
            </a:r>
          </a:p>
          <a:p>
            <a:endParaRPr lang="en-US" sz="2800" dirty="0"/>
          </a:p>
          <a:p>
            <a:r>
              <a:rPr lang="en-US" sz="2800" dirty="0"/>
              <a:t>Or</a:t>
            </a:r>
            <a:r>
              <a:rPr lang="en-US" sz="2800" dirty="0" smtClean="0"/>
              <a:t>:</a:t>
            </a:r>
          </a:p>
          <a:p>
            <a:endParaRPr lang="en-US" sz="2800" dirty="0"/>
          </a:p>
          <a:p>
            <a:r>
              <a:rPr lang="en-US" sz="2800" dirty="0" smtClean="0"/>
              <a:t>“The </a:t>
            </a:r>
            <a:r>
              <a:rPr lang="en-US" sz="2800" dirty="0"/>
              <a:t>dashboard will be used by business owners who may not</a:t>
            </a:r>
          </a:p>
          <a:p>
            <a:r>
              <a:rPr lang="en-US" sz="2800" dirty="0"/>
              <a:t>have technical knowledge</a:t>
            </a:r>
            <a:r>
              <a:rPr lang="en-US" sz="2800" dirty="0" smtClean="0"/>
              <a:t>.”</a:t>
            </a:r>
          </a:p>
          <a:p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4095067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3701559" y="5143500"/>
            <a:ext cx="9460517" cy="9460517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3557741" y="-7145674"/>
            <a:ext cx="9460517" cy="9460517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0397" y="571500"/>
            <a:ext cx="5538403" cy="5538403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2"/>
              <a:stretch>
                <a:fillRect t="-37518" b="-12345"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2667000" y="4174187"/>
            <a:ext cx="3560113" cy="3560113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tretch>
                <a:fillRect l="-48225" r="-1587"/>
              </a:stretch>
            </a:blipFill>
          </p:spPr>
        </p:sp>
      </p:grpSp>
      <p:sp>
        <p:nvSpPr>
          <p:cNvPr id="12" name="Freeform 12"/>
          <p:cNvSpPr/>
          <p:nvPr/>
        </p:nvSpPr>
        <p:spPr>
          <a:xfrm rot="-1368171">
            <a:off x="9756386" y="3847826"/>
            <a:ext cx="8325708" cy="7947266"/>
          </a:xfrm>
          <a:custGeom>
            <a:avLst/>
            <a:gdLst/>
            <a:ahLst/>
            <a:cxnLst/>
            <a:rect l="l" t="t" r="r" b="b"/>
            <a:pathLst>
              <a:path w="8325708" h="7947266">
                <a:moveTo>
                  <a:pt x="0" y="0"/>
                </a:moveTo>
                <a:lnTo>
                  <a:pt x="8325708" y="0"/>
                </a:lnTo>
                <a:lnTo>
                  <a:pt x="8325708" y="7947266"/>
                </a:lnTo>
                <a:lnTo>
                  <a:pt x="0" y="794726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8999"/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6181485" y="-1450422"/>
            <a:ext cx="5224933" cy="4635940"/>
          </a:xfrm>
          <a:custGeom>
            <a:avLst/>
            <a:gdLst/>
            <a:ahLst/>
            <a:cxnLst/>
            <a:rect l="l" t="t" r="r" b="b"/>
            <a:pathLst>
              <a:path w="5224933" h="4635940">
                <a:moveTo>
                  <a:pt x="0" y="0"/>
                </a:moveTo>
                <a:lnTo>
                  <a:pt x="5224932" y="0"/>
                </a:lnTo>
                <a:lnTo>
                  <a:pt x="5224932" y="4635940"/>
                </a:lnTo>
                <a:lnTo>
                  <a:pt x="0" y="463594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55000"/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-3391895" y="3185518"/>
            <a:ext cx="5224933" cy="4635940"/>
          </a:xfrm>
          <a:custGeom>
            <a:avLst/>
            <a:gdLst/>
            <a:ahLst/>
            <a:cxnLst/>
            <a:rect l="l" t="t" r="r" b="b"/>
            <a:pathLst>
              <a:path w="5224933" h="4635940">
                <a:moveTo>
                  <a:pt x="0" y="0"/>
                </a:moveTo>
                <a:lnTo>
                  <a:pt x="5224933" y="0"/>
                </a:lnTo>
                <a:lnTo>
                  <a:pt x="5224933" y="4635941"/>
                </a:lnTo>
                <a:lnTo>
                  <a:pt x="0" y="463594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56000"/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-1475474" y="8294851"/>
            <a:ext cx="7610227" cy="6752346"/>
          </a:xfrm>
          <a:custGeom>
            <a:avLst/>
            <a:gdLst/>
            <a:ahLst/>
            <a:cxnLst/>
            <a:rect l="l" t="t" r="r" b="b"/>
            <a:pathLst>
              <a:path w="7610227" h="6752346">
                <a:moveTo>
                  <a:pt x="0" y="0"/>
                </a:moveTo>
                <a:lnTo>
                  <a:pt x="7610226" y="0"/>
                </a:lnTo>
                <a:lnTo>
                  <a:pt x="7610226" y="6752347"/>
                </a:lnTo>
                <a:lnTo>
                  <a:pt x="0" y="675234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6" name="TextBox 16"/>
          <p:cNvSpPr txBox="1"/>
          <p:nvPr/>
        </p:nvSpPr>
        <p:spPr>
          <a:xfrm>
            <a:off x="7696200" y="1959641"/>
            <a:ext cx="8712406" cy="84638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605"/>
              </a:lnSpc>
            </a:pPr>
            <a:r>
              <a:rPr lang="en-US" sz="6000" b="1" dirty="0"/>
              <a:t>Specifying the Target Users</a:t>
            </a:r>
            <a:endParaRPr lang="en-US" sz="600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7719929" y="3314700"/>
            <a:ext cx="8282071" cy="38779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2800" dirty="0"/>
              <a:t>This can influence</a:t>
            </a:r>
            <a:r>
              <a:rPr lang="en-US" sz="2800" dirty="0" smtClean="0"/>
              <a:t>:</a:t>
            </a:r>
          </a:p>
          <a:p>
            <a:endParaRPr lang="en-US" sz="2800" dirty="0"/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/>
              <a:t>Navigation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/>
              <a:t>Language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/>
              <a:t>Typography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/>
              <a:t>Layout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/>
              <a:t>Button labels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/>
              <a:t>Complexity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/>
              <a:t>User experience</a:t>
            </a:r>
          </a:p>
        </p:txBody>
      </p:sp>
      <p:sp>
        <p:nvSpPr>
          <p:cNvPr id="20" name="Freeform 20"/>
          <p:cNvSpPr/>
          <p:nvPr/>
        </p:nvSpPr>
        <p:spPr>
          <a:xfrm rot="10165856">
            <a:off x="2662051" y="-2415415"/>
            <a:ext cx="5680119" cy="5039815"/>
          </a:xfrm>
          <a:custGeom>
            <a:avLst/>
            <a:gdLst/>
            <a:ahLst/>
            <a:cxnLst/>
            <a:rect l="l" t="t" r="r" b="b"/>
            <a:pathLst>
              <a:path w="5680119" h="5039815">
                <a:moveTo>
                  <a:pt x="0" y="0"/>
                </a:moveTo>
                <a:lnTo>
                  <a:pt x="5680118" y="0"/>
                </a:lnTo>
                <a:lnTo>
                  <a:pt x="5680118" y="5039814"/>
                </a:lnTo>
                <a:lnTo>
                  <a:pt x="0" y="503981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18999"/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</p:spTree>
    <p:extLst>
      <p:ext uri="{BB962C8B-B14F-4D97-AF65-F5344CB8AC3E}">
        <p14:creationId xmlns:p14="http://schemas.microsoft.com/office/powerpoint/2010/main" val="30228588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3701559" y="5143500"/>
            <a:ext cx="9460517" cy="9460517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3557741" y="-7145674"/>
            <a:ext cx="9460517" cy="9460517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0397" y="571500"/>
            <a:ext cx="5538403" cy="5538403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2"/>
              <a:stretch>
                <a:fillRect t="-37518" b="-12345"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2667000" y="4174187"/>
            <a:ext cx="3560113" cy="3560113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tretch>
                <a:fillRect l="-48225" r="-1587"/>
              </a:stretch>
            </a:blipFill>
          </p:spPr>
        </p:sp>
      </p:grpSp>
      <p:sp>
        <p:nvSpPr>
          <p:cNvPr id="12" name="Freeform 12"/>
          <p:cNvSpPr/>
          <p:nvPr/>
        </p:nvSpPr>
        <p:spPr>
          <a:xfrm rot="-1368171">
            <a:off x="9756386" y="3847826"/>
            <a:ext cx="8325708" cy="7947266"/>
          </a:xfrm>
          <a:custGeom>
            <a:avLst/>
            <a:gdLst/>
            <a:ahLst/>
            <a:cxnLst/>
            <a:rect l="l" t="t" r="r" b="b"/>
            <a:pathLst>
              <a:path w="8325708" h="7947266">
                <a:moveTo>
                  <a:pt x="0" y="0"/>
                </a:moveTo>
                <a:lnTo>
                  <a:pt x="8325708" y="0"/>
                </a:lnTo>
                <a:lnTo>
                  <a:pt x="8325708" y="7947266"/>
                </a:lnTo>
                <a:lnTo>
                  <a:pt x="0" y="794726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8999"/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6181485" y="-1450422"/>
            <a:ext cx="5224933" cy="4635940"/>
          </a:xfrm>
          <a:custGeom>
            <a:avLst/>
            <a:gdLst/>
            <a:ahLst/>
            <a:cxnLst/>
            <a:rect l="l" t="t" r="r" b="b"/>
            <a:pathLst>
              <a:path w="5224933" h="4635940">
                <a:moveTo>
                  <a:pt x="0" y="0"/>
                </a:moveTo>
                <a:lnTo>
                  <a:pt x="5224932" y="0"/>
                </a:lnTo>
                <a:lnTo>
                  <a:pt x="5224932" y="4635940"/>
                </a:lnTo>
                <a:lnTo>
                  <a:pt x="0" y="463594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55000"/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-3391895" y="3185518"/>
            <a:ext cx="5224933" cy="4635940"/>
          </a:xfrm>
          <a:custGeom>
            <a:avLst/>
            <a:gdLst/>
            <a:ahLst/>
            <a:cxnLst/>
            <a:rect l="l" t="t" r="r" b="b"/>
            <a:pathLst>
              <a:path w="5224933" h="4635940">
                <a:moveTo>
                  <a:pt x="0" y="0"/>
                </a:moveTo>
                <a:lnTo>
                  <a:pt x="5224933" y="0"/>
                </a:lnTo>
                <a:lnTo>
                  <a:pt x="5224933" y="4635941"/>
                </a:lnTo>
                <a:lnTo>
                  <a:pt x="0" y="463594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56000"/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-1475474" y="8294851"/>
            <a:ext cx="7610227" cy="6752346"/>
          </a:xfrm>
          <a:custGeom>
            <a:avLst/>
            <a:gdLst/>
            <a:ahLst/>
            <a:cxnLst/>
            <a:rect l="l" t="t" r="r" b="b"/>
            <a:pathLst>
              <a:path w="7610227" h="6752346">
                <a:moveTo>
                  <a:pt x="0" y="0"/>
                </a:moveTo>
                <a:lnTo>
                  <a:pt x="7610226" y="0"/>
                </a:lnTo>
                <a:lnTo>
                  <a:pt x="7610226" y="6752347"/>
                </a:lnTo>
                <a:lnTo>
                  <a:pt x="0" y="675234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6" name="TextBox 16"/>
          <p:cNvSpPr txBox="1"/>
          <p:nvPr/>
        </p:nvSpPr>
        <p:spPr>
          <a:xfrm>
            <a:off x="7086600" y="1249645"/>
            <a:ext cx="9888350" cy="84638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605"/>
              </a:lnSpc>
            </a:pPr>
            <a:r>
              <a:rPr lang="en-US" sz="6600" b="1" dirty="0"/>
              <a:t>Specifying the Technology</a:t>
            </a:r>
            <a:endParaRPr lang="en-US" sz="606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6729329" y="2247900"/>
            <a:ext cx="10245622" cy="83099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3200" dirty="0"/>
              <a:t>Always specify the technology when it matters.</a:t>
            </a:r>
          </a:p>
          <a:p>
            <a:r>
              <a:rPr lang="en-US" sz="3200" dirty="0"/>
              <a:t>For example</a:t>
            </a:r>
            <a:r>
              <a:rPr lang="en-US" sz="3200" dirty="0" smtClean="0"/>
              <a:t>:</a:t>
            </a:r>
          </a:p>
          <a:p>
            <a:endParaRPr lang="en-US" sz="3200" dirty="0"/>
          </a:p>
          <a:p>
            <a:r>
              <a:rPr lang="en-US" sz="3200" dirty="0"/>
              <a:t>Use:</a:t>
            </a:r>
          </a:p>
          <a:p>
            <a:r>
              <a:rPr lang="en-US" sz="3200" dirty="0"/>
              <a:t>- HTML5</a:t>
            </a:r>
          </a:p>
          <a:p>
            <a:r>
              <a:rPr lang="en-US" sz="3200" dirty="0"/>
              <a:t>- CSS3</a:t>
            </a:r>
          </a:p>
          <a:p>
            <a:r>
              <a:rPr lang="en-US" sz="3200" dirty="0"/>
              <a:t>- Bootstrap 5</a:t>
            </a:r>
          </a:p>
          <a:p>
            <a:pPr marL="457200" indent="-457200">
              <a:buFontTx/>
              <a:buChar char="-"/>
            </a:pPr>
            <a:r>
              <a:rPr lang="en-US" sz="3200" dirty="0" smtClean="0"/>
              <a:t>Vanilla JavaScript</a:t>
            </a:r>
          </a:p>
          <a:p>
            <a:pPr marL="457200" indent="-457200">
              <a:buFontTx/>
              <a:buChar char="-"/>
            </a:pPr>
            <a:endParaRPr lang="en-US" sz="3200" dirty="0"/>
          </a:p>
          <a:p>
            <a:r>
              <a:rPr lang="en-US" sz="3200" dirty="0" smtClean="0"/>
              <a:t>Or</a:t>
            </a:r>
          </a:p>
          <a:p>
            <a:endParaRPr lang="en-US" sz="3200" dirty="0"/>
          </a:p>
          <a:p>
            <a:r>
              <a:rPr lang="en-US" sz="3200" dirty="0"/>
              <a:t>Use:</a:t>
            </a:r>
          </a:p>
          <a:p>
            <a:r>
              <a:rPr lang="en-US" sz="3200" dirty="0"/>
              <a:t>- React</a:t>
            </a:r>
          </a:p>
          <a:p>
            <a:r>
              <a:rPr lang="en-US" sz="3200" dirty="0"/>
              <a:t>- </a:t>
            </a:r>
            <a:r>
              <a:rPr lang="en-US" sz="3200" dirty="0" err="1"/>
              <a:t>Vite</a:t>
            </a:r>
            <a:endParaRPr lang="en-US" sz="3200" dirty="0"/>
          </a:p>
          <a:p>
            <a:r>
              <a:rPr lang="en-US" sz="3200" dirty="0"/>
              <a:t>- Tailwind CSS</a:t>
            </a:r>
          </a:p>
          <a:p>
            <a:pPr marL="457200" indent="-457200">
              <a:buFontTx/>
              <a:buChar char="-"/>
            </a:pPr>
            <a:r>
              <a:rPr lang="en-US" sz="3200" dirty="0" smtClean="0"/>
              <a:t>React Router</a:t>
            </a:r>
          </a:p>
          <a:p>
            <a:endParaRPr lang="en-US" sz="2800" dirty="0"/>
          </a:p>
        </p:txBody>
      </p:sp>
      <p:sp>
        <p:nvSpPr>
          <p:cNvPr id="20" name="Freeform 20"/>
          <p:cNvSpPr/>
          <p:nvPr/>
        </p:nvSpPr>
        <p:spPr>
          <a:xfrm rot="10165856">
            <a:off x="2662051" y="-2415415"/>
            <a:ext cx="5680119" cy="5039815"/>
          </a:xfrm>
          <a:custGeom>
            <a:avLst/>
            <a:gdLst/>
            <a:ahLst/>
            <a:cxnLst/>
            <a:rect l="l" t="t" r="r" b="b"/>
            <a:pathLst>
              <a:path w="5680119" h="5039815">
                <a:moveTo>
                  <a:pt x="0" y="0"/>
                </a:moveTo>
                <a:lnTo>
                  <a:pt x="5680118" y="0"/>
                </a:lnTo>
                <a:lnTo>
                  <a:pt x="5680118" y="5039814"/>
                </a:lnTo>
                <a:lnTo>
                  <a:pt x="0" y="503981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18999"/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</p:spTree>
    <p:extLst>
      <p:ext uri="{BB962C8B-B14F-4D97-AF65-F5344CB8AC3E}">
        <p14:creationId xmlns:p14="http://schemas.microsoft.com/office/powerpoint/2010/main" val="38413706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3768924" y="6735187"/>
            <a:ext cx="9460517" cy="9460517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377858" y="7663815"/>
            <a:ext cx="5246370" cy="5246370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2"/>
              <a:stretch>
                <a:fillRect t="-42503" b="-7309"/>
              </a:stretch>
            </a:blipFill>
          </p:spPr>
        </p:sp>
      </p:grpSp>
      <p:sp>
        <p:nvSpPr>
          <p:cNvPr id="7" name="Freeform 7"/>
          <p:cNvSpPr/>
          <p:nvPr/>
        </p:nvSpPr>
        <p:spPr>
          <a:xfrm rot="-1368171">
            <a:off x="8036856" y="3362764"/>
            <a:ext cx="8325708" cy="7947266"/>
          </a:xfrm>
          <a:custGeom>
            <a:avLst/>
            <a:gdLst/>
            <a:ahLst/>
            <a:cxnLst/>
            <a:rect l="l" t="t" r="r" b="b"/>
            <a:pathLst>
              <a:path w="8325708" h="7947266">
                <a:moveTo>
                  <a:pt x="0" y="0"/>
                </a:moveTo>
                <a:lnTo>
                  <a:pt x="8325708" y="0"/>
                </a:lnTo>
                <a:lnTo>
                  <a:pt x="8325708" y="7947266"/>
                </a:lnTo>
                <a:lnTo>
                  <a:pt x="0" y="794726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7999"/>
              <a:extLst>
                <a:ext uri="{96DAC541-7B7A-43D3-8B79-37D633B846F1}">
                  <asvg:svgBlip xmlns=""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12596407" y="-5908704"/>
            <a:ext cx="9460517" cy="946051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2663772" y="-2623185"/>
            <a:ext cx="5246370" cy="5246370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5"/>
              <a:stretch>
                <a:fillRect b="-49719"/>
              </a:stretch>
            </a:blipFill>
          </p:spPr>
        </p:sp>
      </p:grpSp>
      <p:sp>
        <p:nvSpPr>
          <p:cNvPr id="13" name="Freeform 13"/>
          <p:cNvSpPr/>
          <p:nvPr/>
        </p:nvSpPr>
        <p:spPr>
          <a:xfrm>
            <a:off x="16978565" y="-830978"/>
            <a:ext cx="6435168" cy="5709749"/>
          </a:xfrm>
          <a:custGeom>
            <a:avLst/>
            <a:gdLst/>
            <a:ahLst/>
            <a:cxnLst/>
            <a:rect l="l" t="t" r="r" b="b"/>
            <a:pathLst>
              <a:path w="6435168" h="5709749">
                <a:moveTo>
                  <a:pt x="0" y="0"/>
                </a:moveTo>
                <a:lnTo>
                  <a:pt x="6435169" y="0"/>
                </a:lnTo>
                <a:lnTo>
                  <a:pt x="6435169" y="5709749"/>
                </a:lnTo>
                <a:lnTo>
                  <a:pt x="0" y="570974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-5252387" y="5143500"/>
            <a:ext cx="6435168" cy="5709749"/>
          </a:xfrm>
          <a:custGeom>
            <a:avLst/>
            <a:gdLst/>
            <a:ahLst/>
            <a:cxnLst/>
            <a:rect l="l" t="t" r="r" b="b"/>
            <a:pathLst>
              <a:path w="6435168" h="5709749">
                <a:moveTo>
                  <a:pt x="0" y="0"/>
                </a:moveTo>
                <a:lnTo>
                  <a:pt x="6435168" y="0"/>
                </a:lnTo>
                <a:lnTo>
                  <a:pt x="6435168" y="5709749"/>
                </a:lnTo>
                <a:lnTo>
                  <a:pt x="0" y="570974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3124200" y="1179427"/>
            <a:ext cx="9176336" cy="8686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605"/>
              </a:lnSpc>
            </a:pPr>
            <a:r>
              <a:rPr lang="en-US" sz="6600" b="1" dirty="0"/>
              <a:t>Specifying the Technology</a:t>
            </a:r>
            <a:endParaRPr lang="en-US" sz="606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2799284" y="2400300"/>
            <a:ext cx="12689432" cy="44319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3200" dirty="0"/>
              <a:t>Or</a:t>
            </a:r>
            <a:r>
              <a:rPr lang="en-US" sz="3200" dirty="0" smtClean="0"/>
              <a:t>:</a:t>
            </a:r>
          </a:p>
          <a:p>
            <a:endParaRPr lang="en-US" sz="3200" dirty="0"/>
          </a:p>
          <a:p>
            <a:r>
              <a:rPr lang="en-US" sz="3200" dirty="0"/>
              <a:t>Use:</a:t>
            </a:r>
          </a:p>
          <a:p>
            <a:r>
              <a:rPr lang="en-US" sz="3200" dirty="0"/>
              <a:t>- PHP</a:t>
            </a:r>
          </a:p>
          <a:p>
            <a:r>
              <a:rPr lang="en-US" sz="3200" dirty="0"/>
              <a:t>- MySQL</a:t>
            </a:r>
          </a:p>
          <a:p>
            <a:r>
              <a:rPr lang="en-US" sz="3200" dirty="0"/>
              <a:t>- Bootstrap</a:t>
            </a:r>
          </a:p>
          <a:p>
            <a:r>
              <a:rPr lang="en-US" sz="3200" dirty="0"/>
              <a:t>- JavaScript</a:t>
            </a:r>
          </a:p>
          <a:p>
            <a:r>
              <a:rPr lang="en-US" sz="3200" dirty="0"/>
              <a:t>Without specifying the technology, AI may choose a framework you don't want.</a:t>
            </a:r>
          </a:p>
        </p:txBody>
      </p:sp>
    </p:spTree>
    <p:extLst>
      <p:ext uri="{BB962C8B-B14F-4D97-AF65-F5344CB8AC3E}">
        <p14:creationId xmlns:p14="http://schemas.microsoft.com/office/powerpoint/2010/main" val="31559337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368171">
            <a:off x="2537321" y="2532154"/>
            <a:ext cx="8325708" cy="7947266"/>
          </a:xfrm>
          <a:custGeom>
            <a:avLst/>
            <a:gdLst/>
            <a:ahLst/>
            <a:cxnLst/>
            <a:rect l="l" t="t" r="r" b="b"/>
            <a:pathLst>
              <a:path w="8325708" h="7947266">
                <a:moveTo>
                  <a:pt x="0" y="0"/>
                </a:moveTo>
                <a:lnTo>
                  <a:pt x="8325707" y="0"/>
                </a:lnTo>
                <a:lnTo>
                  <a:pt x="8325707" y="7947267"/>
                </a:lnTo>
                <a:lnTo>
                  <a:pt x="0" y="79472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8999"/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1895557" y="251870"/>
            <a:ext cx="6164476" cy="9783260"/>
            <a:chOff x="0" y="0"/>
            <a:chExt cx="512149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12149" cy="812800"/>
            </a:xfrm>
            <a:custGeom>
              <a:avLst/>
              <a:gdLst/>
              <a:ahLst/>
              <a:cxnLst/>
              <a:rect l="l" t="t" r="r" b="b"/>
              <a:pathLst>
                <a:path w="512149" h="812800">
                  <a:moveTo>
                    <a:pt x="89168" y="0"/>
                  </a:moveTo>
                  <a:lnTo>
                    <a:pt x="422981" y="0"/>
                  </a:lnTo>
                  <a:cubicBezTo>
                    <a:pt x="446629" y="0"/>
                    <a:pt x="469310" y="9394"/>
                    <a:pt x="486032" y="26117"/>
                  </a:cubicBezTo>
                  <a:cubicBezTo>
                    <a:pt x="502754" y="42839"/>
                    <a:pt x="512149" y="65519"/>
                    <a:pt x="512149" y="89168"/>
                  </a:cubicBezTo>
                  <a:lnTo>
                    <a:pt x="512149" y="723632"/>
                  </a:lnTo>
                  <a:cubicBezTo>
                    <a:pt x="512149" y="747281"/>
                    <a:pt x="502754" y="769961"/>
                    <a:pt x="486032" y="786683"/>
                  </a:cubicBezTo>
                  <a:cubicBezTo>
                    <a:pt x="469310" y="803406"/>
                    <a:pt x="446629" y="812800"/>
                    <a:pt x="422981" y="812800"/>
                  </a:cubicBezTo>
                  <a:lnTo>
                    <a:pt x="89168" y="812800"/>
                  </a:lnTo>
                  <a:cubicBezTo>
                    <a:pt x="65519" y="812800"/>
                    <a:pt x="42839" y="803406"/>
                    <a:pt x="26117" y="786683"/>
                  </a:cubicBezTo>
                  <a:cubicBezTo>
                    <a:pt x="9394" y="769961"/>
                    <a:pt x="0" y="747281"/>
                    <a:pt x="0" y="723632"/>
                  </a:cubicBezTo>
                  <a:lnTo>
                    <a:pt x="0" y="89168"/>
                  </a:lnTo>
                  <a:cubicBezTo>
                    <a:pt x="0" y="65519"/>
                    <a:pt x="9394" y="42839"/>
                    <a:pt x="26117" y="26117"/>
                  </a:cubicBezTo>
                  <a:cubicBezTo>
                    <a:pt x="42839" y="9394"/>
                    <a:pt x="65519" y="0"/>
                    <a:pt x="89168" y="0"/>
                  </a:cubicBezTo>
                  <a:close/>
                </a:path>
              </a:pathLst>
            </a:custGeom>
            <a:blipFill>
              <a:blip r:embed="rId4"/>
              <a:stretch>
                <a:fillRect l="-69102" r="-69102"/>
              </a:stretch>
            </a:blipFill>
          </p:spPr>
        </p:sp>
      </p:grpSp>
      <p:sp>
        <p:nvSpPr>
          <p:cNvPr id="5" name="Freeform 5"/>
          <p:cNvSpPr/>
          <p:nvPr/>
        </p:nvSpPr>
        <p:spPr>
          <a:xfrm rot="5400000">
            <a:off x="-4752727" y="3955733"/>
            <a:ext cx="10536641" cy="2375534"/>
          </a:xfrm>
          <a:custGeom>
            <a:avLst/>
            <a:gdLst/>
            <a:ahLst/>
            <a:cxnLst/>
            <a:rect l="l" t="t" r="r" b="b"/>
            <a:pathLst>
              <a:path w="10536641" h="2375534">
                <a:moveTo>
                  <a:pt x="0" y="0"/>
                </a:moveTo>
                <a:lnTo>
                  <a:pt x="10536642" y="0"/>
                </a:lnTo>
                <a:lnTo>
                  <a:pt x="10536642" y="2375534"/>
                </a:lnTo>
                <a:lnTo>
                  <a:pt x="0" y="237553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grpSp>
        <p:nvGrpSpPr>
          <p:cNvPr id="6" name="Group 6"/>
          <p:cNvGrpSpPr/>
          <p:nvPr/>
        </p:nvGrpSpPr>
        <p:grpSpPr>
          <a:xfrm>
            <a:off x="1176216" y="3339275"/>
            <a:ext cx="5826204" cy="4776026"/>
            <a:chOff x="0" y="0"/>
            <a:chExt cx="810637" cy="479393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0637" cy="479393"/>
            </a:xfrm>
            <a:custGeom>
              <a:avLst/>
              <a:gdLst/>
              <a:ahLst/>
              <a:cxnLst/>
              <a:rect l="l" t="t" r="r" b="b"/>
              <a:pathLst>
                <a:path w="810637" h="479393">
                  <a:moveTo>
                    <a:pt x="25953" y="0"/>
                  </a:moveTo>
                  <a:lnTo>
                    <a:pt x="784684" y="0"/>
                  </a:lnTo>
                  <a:cubicBezTo>
                    <a:pt x="791567" y="0"/>
                    <a:pt x="798168" y="2734"/>
                    <a:pt x="803036" y="7602"/>
                  </a:cubicBezTo>
                  <a:cubicBezTo>
                    <a:pt x="807903" y="12469"/>
                    <a:pt x="810637" y="19070"/>
                    <a:pt x="810637" y="25953"/>
                  </a:cubicBezTo>
                  <a:lnTo>
                    <a:pt x="810637" y="453440"/>
                  </a:lnTo>
                  <a:cubicBezTo>
                    <a:pt x="810637" y="460323"/>
                    <a:pt x="807903" y="466925"/>
                    <a:pt x="803036" y="471792"/>
                  </a:cubicBezTo>
                  <a:cubicBezTo>
                    <a:pt x="798168" y="476659"/>
                    <a:pt x="791567" y="479393"/>
                    <a:pt x="784684" y="479393"/>
                  </a:cubicBezTo>
                  <a:lnTo>
                    <a:pt x="25953" y="479393"/>
                  </a:lnTo>
                  <a:cubicBezTo>
                    <a:pt x="19070" y="479393"/>
                    <a:pt x="12469" y="476659"/>
                    <a:pt x="7602" y="471792"/>
                  </a:cubicBezTo>
                  <a:cubicBezTo>
                    <a:pt x="2734" y="466925"/>
                    <a:pt x="0" y="460323"/>
                    <a:pt x="0" y="453440"/>
                  </a:cubicBezTo>
                  <a:lnTo>
                    <a:pt x="0" y="25953"/>
                  </a:lnTo>
                  <a:cubicBezTo>
                    <a:pt x="0" y="19070"/>
                    <a:pt x="2734" y="12469"/>
                    <a:pt x="7602" y="7602"/>
                  </a:cubicBezTo>
                  <a:cubicBezTo>
                    <a:pt x="12469" y="2734"/>
                    <a:pt x="19070" y="0"/>
                    <a:pt x="25953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810637" cy="5174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7338851" y="3339274"/>
            <a:ext cx="6674043" cy="4776027"/>
            <a:chOff x="0" y="0"/>
            <a:chExt cx="928602" cy="479393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928602" cy="479393"/>
            </a:xfrm>
            <a:custGeom>
              <a:avLst/>
              <a:gdLst/>
              <a:ahLst/>
              <a:cxnLst/>
              <a:rect l="l" t="t" r="r" b="b"/>
              <a:pathLst>
                <a:path w="928602" h="479393">
                  <a:moveTo>
                    <a:pt x="22656" y="0"/>
                  </a:moveTo>
                  <a:lnTo>
                    <a:pt x="905946" y="0"/>
                  </a:lnTo>
                  <a:cubicBezTo>
                    <a:pt x="911955" y="0"/>
                    <a:pt x="917718" y="2387"/>
                    <a:pt x="921966" y="6636"/>
                  </a:cubicBezTo>
                  <a:cubicBezTo>
                    <a:pt x="926215" y="10885"/>
                    <a:pt x="928602" y="16648"/>
                    <a:pt x="928602" y="22656"/>
                  </a:cubicBezTo>
                  <a:lnTo>
                    <a:pt x="928602" y="456737"/>
                  </a:lnTo>
                  <a:cubicBezTo>
                    <a:pt x="928602" y="462746"/>
                    <a:pt x="926215" y="468509"/>
                    <a:pt x="921966" y="472757"/>
                  </a:cubicBezTo>
                  <a:cubicBezTo>
                    <a:pt x="917718" y="477006"/>
                    <a:pt x="911955" y="479393"/>
                    <a:pt x="905946" y="479393"/>
                  </a:cubicBezTo>
                  <a:lnTo>
                    <a:pt x="22656" y="479393"/>
                  </a:lnTo>
                  <a:cubicBezTo>
                    <a:pt x="16648" y="479393"/>
                    <a:pt x="10885" y="477006"/>
                    <a:pt x="6636" y="472757"/>
                  </a:cubicBezTo>
                  <a:cubicBezTo>
                    <a:pt x="2387" y="468509"/>
                    <a:pt x="0" y="462746"/>
                    <a:pt x="0" y="456737"/>
                  </a:cubicBezTo>
                  <a:lnTo>
                    <a:pt x="0" y="22656"/>
                  </a:lnTo>
                  <a:cubicBezTo>
                    <a:pt x="0" y="16648"/>
                    <a:pt x="2387" y="10885"/>
                    <a:pt x="6636" y="6636"/>
                  </a:cubicBezTo>
                  <a:cubicBezTo>
                    <a:pt x="10885" y="2387"/>
                    <a:pt x="16648" y="0"/>
                    <a:pt x="22656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928602" cy="5174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12" name="Freeform 12"/>
          <p:cNvSpPr/>
          <p:nvPr/>
        </p:nvSpPr>
        <p:spPr>
          <a:xfrm>
            <a:off x="15741242" y="8229600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=""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1103660" y="-2865691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=""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1227430" y="1172909"/>
            <a:ext cx="10179987" cy="8686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605"/>
              </a:lnSpc>
            </a:pPr>
            <a:r>
              <a:rPr lang="en-US" sz="6600" b="1" dirty="0"/>
              <a:t>Specifying the Design Style</a:t>
            </a:r>
            <a:endParaRPr lang="en-US" sz="606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430349" y="3630454"/>
            <a:ext cx="5317938" cy="4093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Examples</a:t>
            </a:r>
            <a:r>
              <a:rPr lang="en-US" sz="2800" dirty="0" smtClean="0">
                <a:solidFill>
                  <a:schemeClr val="bg1"/>
                </a:solidFill>
              </a:rPr>
              <a:t>:</a:t>
            </a:r>
          </a:p>
          <a:p>
            <a:endParaRPr lang="en-US" sz="2800" dirty="0">
              <a:solidFill>
                <a:schemeClr val="bg1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2800" dirty="0">
                <a:solidFill>
                  <a:schemeClr val="bg1"/>
                </a:solidFill>
              </a:rPr>
              <a:t>Modern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solidFill>
                  <a:schemeClr val="bg1"/>
                </a:solidFill>
              </a:rPr>
              <a:t>Professional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solidFill>
                  <a:schemeClr val="bg1"/>
                </a:solidFill>
              </a:rPr>
              <a:t>Minimal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solidFill>
                  <a:schemeClr val="bg1"/>
                </a:solidFill>
              </a:rPr>
              <a:t>Elegant</a:t>
            </a:r>
          </a:p>
          <a:p>
            <a:pPr>
              <a:lnSpc>
                <a:spcPct val="150000"/>
              </a:lnSpc>
            </a:pPr>
            <a:r>
              <a:rPr lang="en-US" sz="2800" dirty="0" smtClean="0">
                <a:solidFill>
                  <a:schemeClr val="bg1"/>
                </a:solidFill>
              </a:rPr>
              <a:t>Corporate</a:t>
            </a:r>
            <a:endParaRPr lang="en-US" sz="2800" dirty="0">
              <a:solidFill>
                <a:schemeClr val="bg1"/>
              </a:solidFill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7624803" y="3929777"/>
            <a:ext cx="6102139" cy="38779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solidFill>
                  <a:schemeClr val="bg1"/>
                </a:solidFill>
              </a:rPr>
              <a:t>Luxury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solidFill>
                  <a:schemeClr val="bg1"/>
                </a:solidFill>
              </a:rPr>
              <a:t>Playful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solidFill>
                  <a:schemeClr val="bg1"/>
                </a:solidFill>
              </a:rPr>
              <a:t>Creative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solidFill>
                  <a:schemeClr val="bg1"/>
                </a:solidFill>
              </a:rPr>
              <a:t>Futuristic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solidFill>
                  <a:schemeClr val="bg1"/>
                </a:solidFill>
              </a:rPr>
              <a:t>Clean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solidFill>
                  <a:schemeClr val="bg1"/>
                </a:solidFill>
              </a:rPr>
              <a:t>Tech-focused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27431" y="2476500"/>
            <a:ext cx="10179987" cy="4308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2800" dirty="0"/>
              <a:t>Describe the visual style you want</a:t>
            </a:r>
            <a:r>
              <a:rPr lang="en-US" sz="2800" dirty="0" smtClean="0"/>
              <a:t>.</a:t>
            </a:r>
            <a:endParaRPr lang="en-US" sz="2800" dirty="0"/>
          </a:p>
        </p:txBody>
      </p:sp>
      <p:sp>
        <p:nvSpPr>
          <p:cNvPr id="18" name="TextBox 17"/>
          <p:cNvSpPr txBox="1"/>
          <p:nvPr/>
        </p:nvSpPr>
        <p:spPr>
          <a:xfrm>
            <a:off x="1295400" y="8522613"/>
            <a:ext cx="10179987" cy="12926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2800" dirty="0"/>
              <a:t>You can combine styles</a:t>
            </a:r>
            <a:r>
              <a:rPr lang="en-US" sz="2800" dirty="0" smtClean="0"/>
              <a:t>:</a:t>
            </a:r>
          </a:p>
          <a:p>
            <a:endParaRPr lang="en-US" sz="2800" dirty="0"/>
          </a:p>
          <a:p>
            <a:r>
              <a:rPr lang="en-US" sz="2800" dirty="0"/>
              <a:t>Create a modern, clean and professional </a:t>
            </a:r>
            <a:r>
              <a:rPr lang="en-US" sz="2800" dirty="0" err="1"/>
              <a:t>fintech</a:t>
            </a:r>
            <a:r>
              <a:rPr lang="en-US" sz="2800" dirty="0"/>
              <a:t> interface.</a:t>
            </a:r>
          </a:p>
        </p:txBody>
      </p:sp>
    </p:spTree>
    <p:extLst>
      <p:ext uri="{BB962C8B-B14F-4D97-AF65-F5344CB8AC3E}">
        <p14:creationId xmlns:p14="http://schemas.microsoft.com/office/powerpoint/2010/main" val="3090694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368171">
            <a:off x="2537321" y="2532154"/>
            <a:ext cx="8325708" cy="7947266"/>
          </a:xfrm>
          <a:custGeom>
            <a:avLst/>
            <a:gdLst/>
            <a:ahLst/>
            <a:cxnLst/>
            <a:rect l="l" t="t" r="r" b="b"/>
            <a:pathLst>
              <a:path w="8325708" h="7947266">
                <a:moveTo>
                  <a:pt x="0" y="0"/>
                </a:moveTo>
                <a:lnTo>
                  <a:pt x="8325707" y="0"/>
                </a:lnTo>
                <a:lnTo>
                  <a:pt x="8325707" y="7947267"/>
                </a:lnTo>
                <a:lnTo>
                  <a:pt x="0" y="79472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8999"/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1895557" y="251870"/>
            <a:ext cx="6164476" cy="9783260"/>
            <a:chOff x="0" y="0"/>
            <a:chExt cx="512149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12149" cy="812800"/>
            </a:xfrm>
            <a:custGeom>
              <a:avLst/>
              <a:gdLst/>
              <a:ahLst/>
              <a:cxnLst/>
              <a:rect l="l" t="t" r="r" b="b"/>
              <a:pathLst>
                <a:path w="512149" h="812800">
                  <a:moveTo>
                    <a:pt x="89168" y="0"/>
                  </a:moveTo>
                  <a:lnTo>
                    <a:pt x="422981" y="0"/>
                  </a:lnTo>
                  <a:cubicBezTo>
                    <a:pt x="446629" y="0"/>
                    <a:pt x="469310" y="9394"/>
                    <a:pt x="486032" y="26117"/>
                  </a:cubicBezTo>
                  <a:cubicBezTo>
                    <a:pt x="502754" y="42839"/>
                    <a:pt x="512149" y="65519"/>
                    <a:pt x="512149" y="89168"/>
                  </a:cubicBezTo>
                  <a:lnTo>
                    <a:pt x="512149" y="723632"/>
                  </a:lnTo>
                  <a:cubicBezTo>
                    <a:pt x="512149" y="747281"/>
                    <a:pt x="502754" y="769961"/>
                    <a:pt x="486032" y="786683"/>
                  </a:cubicBezTo>
                  <a:cubicBezTo>
                    <a:pt x="469310" y="803406"/>
                    <a:pt x="446629" y="812800"/>
                    <a:pt x="422981" y="812800"/>
                  </a:cubicBezTo>
                  <a:lnTo>
                    <a:pt x="89168" y="812800"/>
                  </a:lnTo>
                  <a:cubicBezTo>
                    <a:pt x="65519" y="812800"/>
                    <a:pt x="42839" y="803406"/>
                    <a:pt x="26117" y="786683"/>
                  </a:cubicBezTo>
                  <a:cubicBezTo>
                    <a:pt x="9394" y="769961"/>
                    <a:pt x="0" y="747281"/>
                    <a:pt x="0" y="723632"/>
                  </a:cubicBezTo>
                  <a:lnTo>
                    <a:pt x="0" y="89168"/>
                  </a:lnTo>
                  <a:cubicBezTo>
                    <a:pt x="0" y="65519"/>
                    <a:pt x="9394" y="42839"/>
                    <a:pt x="26117" y="26117"/>
                  </a:cubicBezTo>
                  <a:cubicBezTo>
                    <a:pt x="42839" y="9394"/>
                    <a:pt x="65519" y="0"/>
                    <a:pt x="89168" y="0"/>
                  </a:cubicBezTo>
                  <a:close/>
                </a:path>
              </a:pathLst>
            </a:custGeom>
            <a:blipFill>
              <a:blip r:embed="rId4"/>
              <a:stretch>
                <a:fillRect l="-69102" r="-69102"/>
              </a:stretch>
            </a:blipFill>
          </p:spPr>
        </p:sp>
      </p:grpSp>
      <p:sp>
        <p:nvSpPr>
          <p:cNvPr id="5" name="Freeform 5"/>
          <p:cNvSpPr/>
          <p:nvPr/>
        </p:nvSpPr>
        <p:spPr>
          <a:xfrm rot="5400000">
            <a:off x="-4752727" y="3955733"/>
            <a:ext cx="10536641" cy="2375534"/>
          </a:xfrm>
          <a:custGeom>
            <a:avLst/>
            <a:gdLst/>
            <a:ahLst/>
            <a:cxnLst/>
            <a:rect l="l" t="t" r="r" b="b"/>
            <a:pathLst>
              <a:path w="10536641" h="2375534">
                <a:moveTo>
                  <a:pt x="0" y="0"/>
                </a:moveTo>
                <a:lnTo>
                  <a:pt x="10536642" y="0"/>
                </a:lnTo>
                <a:lnTo>
                  <a:pt x="10536642" y="2375534"/>
                </a:lnTo>
                <a:lnTo>
                  <a:pt x="0" y="237553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5741242" y="8229600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=""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1103660" y="-2865691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=""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1227430" y="190500"/>
            <a:ext cx="10179987" cy="8686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605"/>
              </a:lnSpc>
            </a:pPr>
            <a:r>
              <a:rPr lang="en-US" sz="6600" b="1" dirty="0"/>
              <a:t>Specifying Colors</a:t>
            </a:r>
            <a:endParaRPr lang="en-US" sz="606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1227431" y="2781300"/>
            <a:ext cx="10179987" cy="68941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3200" dirty="0"/>
              <a:t>Colors can be included in the prompt</a:t>
            </a:r>
            <a:r>
              <a:rPr lang="en-US" sz="3200" dirty="0" smtClean="0"/>
              <a:t>.</a:t>
            </a:r>
          </a:p>
          <a:p>
            <a:endParaRPr lang="en-US" sz="3200" dirty="0"/>
          </a:p>
          <a:p>
            <a:r>
              <a:rPr lang="en-US" sz="3200" dirty="0"/>
              <a:t>For example</a:t>
            </a:r>
            <a:r>
              <a:rPr lang="en-US" sz="3200" dirty="0" smtClean="0"/>
              <a:t>:</a:t>
            </a:r>
          </a:p>
          <a:p>
            <a:endParaRPr lang="en-US" sz="3200" dirty="0"/>
          </a:p>
          <a:p>
            <a:r>
              <a:rPr lang="en-US" sz="3200" dirty="0"/>
              <a:t>Use a blue and white color scheme with dark gray text</a:t>
            </a:r>
            <a:r>
              <a:rPr lang="en-US" sz="3200" dirty="0" smtClean="0"/>
              <a:t>.</a:t>
            </a:r>
          </a:p>
          <a:p>
            <a:endParaRPr lang="en-US" sz="3200" dirty="0"/>
          </a:p>
          <a:p>
            <a:r>
              <a:rPr lang="en-US" sz="3200" dirty="0"/>
              <a:t>Or more specifically:</a:t>
            </a:r>
          </a:p>
          <a:p>
            <a:r>
              <a:rPr lang="en-US" sz="3200" dirty="0"/>
              <a:t>Primary color: #2563EB</a:t>
            </a:r>
          </a:p>
          <a:p>
            <a:r>
              <a:rPr lang="en-US" sz="3200" dirty="0"/>
              <a:t>Secondary color: #0F172A</a:t>
            </a:r>
          </a:p>
          <a:p>
            <a:r>
              <a:rPr lang="en-US" sz="3200" dirty="0"/>
              <a:t>Background: #F8FAFC</a:t>
            </a:r>
          </a:p>
          <a:p>
            <a:r>
              <a:rPr lang="en-US" sz="3200" dirty="0"/>
              <a:t>Text: #</a:t>
            </a:r>
            <a:r>
              <a:rPr lang="en-US" sz="3200" dirty="0" smtClean="0"/>
              <a:t>1E293B</a:t>
            </a:r>
          </a:p>
          <a:p>
            <a:endParaRPr lang="en-US" sz="3200" dirty="0"/>
          </a:p>
          <a:p>
            <a:r>
              <a:rPr lang="en-US" sz="3200" dirty="0"/>
              <a:t>Specific color requirements give AI more control over the final design.</a:t>
            </a:r>
          </a:p>
        </p:txBody>
      </p:sp>
    </p:spTree>
    <p:extLst>
      <p:ext uri="{BB962C8B-B14F-4D97-AF65-F5344CB8AC3E}">
        <p14:creationId xmlns:p14="http://schemas.microsoft.com/office/powerpoint/2010/main" val="19659150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2051777" y="1904800"/>
            <a:ext cx="13722913" cy="13722913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184300" y="-5129608"/>
            <a:ext cx="7034408" cy="7034408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4433773" y="9062399"/>
            <a:ext cx="5143500" cy="5143500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 rot="5400000">
            <a:off x="-4685509" y="3955733"/>
            <a:ext cx="10536641" cy="2375534"/>
          </a:xfrm>
          <a:custGeom>
            <a:avLst/>
            <a:gdLst/>
            <a:ahLst/>
            <a:cxnLst/>
            <a:rect l="l" t="t" r="r" b="b"/>
            <a:pathLst>
              <a:path w="10536641" h="2375534">
                <a:moveTo>
                  <a:pt x="0" y="0"/>
                </a:moveTo>
                <a:lnTo>
                  <a:pt x="10536641" y="0"/>
                </a:lnTo>
                <a:lnTo>
                  <a:pt x="10536641" y="2375534"/>
                </a:lnTo>
                <a:lnTo>
                  <a:pt x="0" y="237553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7194118" y="-1612404"/>
            <a:ext cx="5014772" cy="4449470"/>
          </a:xfrm>
          <a:custGeom>
            <a:avLst/>
            <a:gdLst/>
            <a:ahLst/>
            <a:cxnLst/>
            <a:rect l="l" t="t" r="r" b="b"/>
            <a:pathLst>
              <a:path w="5014772" h="4449470">
                <a:moveTo>
                  <a:pt x="0" y="0"/>
                </a:moveTo>
                <a:lnTo>
                  <a:pt x="5014772" y="0"/>
                </a:lnTo>
                <a:lnTo>
                  <a:pt x="5014772" y="4449471"/>
                </a:lnTo>
                <a:lnTo>
                  <a:pt x="0" y="444947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6184300" y="7883197"/>
            <a:ext cx="5014772" cy="4449470"/>
          </a:xfrm>
          <a:custGeom>
            <a:avLst/>
            <a:gdLst/>
            <a:ahLst/>
            <a:cxnLst/>
            <a:rect l="l" t="t" r="r" b="b"/>
            <a:pathLst>
              <a:path w="5014772" h="4449470">
                <a:moveTo>
                  <a:pt x="0" y="0"/>
                </a:moveTo>
                <a:lnTo>
                  <a:pt x="5014772" y="0"/>
                </a:lnTo>
                <a:lnTo>
                  <a:pt x="5014772" y="4449471"/>
                </a:lnTo>
                <a:lnTo>
                  <a:pt x="0" y="444947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11671136" y="3426200"/>
            <a:ext cx="5440240" cy="4114800"/>
          </a:xfrm>
          <a:custGeom>
            <a:avLst/>
            <a:gdLst/>
            <a:ahLst/>
            <a:cxnLst/>
            <a:rect l="l" t="t" r="r" b="b"/>
            <a:pathLst>
              <a:path w="5440240" h="4114800">
                <a:moveTo>
                  <a:pt x="0" y="0"/>
                </a:moveTo>
                <a:lnTo>
                  <a:pt x="5440241" y="0"/>
                </a:lnTo>
                <a:lnTo>
                  <a:pt x="5440241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7924801" y="1179427"/>
            <a:ext cx="9210416" cy="8686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605"/>
              </a:lnSpc>
            </a:pPr>
            <a:r>
              <a:rPr lang="en-US" sz="6600" b="1" dirty="0"/>
              <a:t>Specifying Typography</a:t>
            </a:r>
            <a:endParaRPr lang="en-US" sz="606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1241760" y="3801369"/>
            <a:ext cx="8409932" cy="66479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</a:rPr>
              <a:t>You can tell AI what type of typography you want.</a:t>
            </a:r>
          </a:p>
          <a:p>
            <a:r>
              <a:rPr lang="en-US" sz="3600" dirty="0">
                <a:solidFill>
                  <a:schemeClr val="bg1"/>
                </a:solidFill>
              </a:rPr>
              <a:t>Example:</a:t>
            </a:r>
          </a:p>
          <a:p>
            <a:r>
              <a:rPr lang="en-US" sz="3600" dirty="0">
                <a:solidFill>
                  <a:schemeClr val="bg1"/>
                </a:solidFill>
              </a:rPr>
              <a:t>Use a clean sans-serif font.</a:t>
            </a:r>
          </a:p>
          <a:p>
            <a:r>
              <a:rPr lang="en-US" sz="3600" dirty="0">
                <a:solidFill>
                  <a:schemeClr val="bg1"/>
                </a:solidFill>
              </a:rPr>
              <a:t> </a:t>
            </a:r>
          </a:p>
          <a:p>
            <a:r>
              <a:rPr lang="en-US" sz="3600" dirty="0">
                <a:solidFill>
                  <a:schemeClr val="bg1"/>
                </a:solidFill>
              </a:rPr>
              <a:t>Use:</a:t>
            </a:r>
          </a:p>
          <a:p>
            <a:r>
              <a:rPr lang="en-US" sz="3600" dirty="0">
                <a:solidFill>
                  <a:schemeClr val="bg1"/>
                </a:solidFill>
              </a:rPr>
              <a:t>- Large bold headings</a:t>
            </a:r>
          </a:p>
          <a:p>
            <a:r>
              <a:rPr lang="en-US" sz="3600" dirty="0">
                <a:solidFill>
                  <a:schemeClr val="bg1"/>
                </a:solidFill>
              </a:rPr>
              <a:t>- Medium-sized subheadings</a:t>
            </a:r>
          </a:p>
          <a:p>
            <a:r>
              <a:rPr lang="en-US" sz="3600" dirty="0">
                <a:solidFill>
                  <a:schemeClr val="bg1"/>
                </a:solidFill>
              </a:rPr>
              <a:t>- Comfortable body text</a:t>
            </a:r>
          </a:p>
          <a:p>
            <a:r>
              <a:rPr lang="en-US" sz="3600" dirty="0">
                <a:solidFill>
                  <a:schemeClr val="bg1"/>
                </a:solidFill>
              </a:rPr>
              <a:t>- Clear line spacing</a:t>
            </a:r>
          </a:p>
          <a:p>
            <a:r>
              <a:rPr lang="en-US" sz="3600" dirty="0">
                <a:solidFill>
                  <a:schemeClr val="bg1"/>
                </a:solidFill>
              </a:rPr>
              <a:t>You can also specify a font:</a:t>
            </a:r>
          </a:p>
          <a:p>
            <a:r>
              <a:rPr lang="en-US" sz="3600" dirty="0">
                <a:solidFill>
                  <a:schemeClr val="bg1"/>
                </a:solidFill>
              </a:rPr>
              <a:t>Use Inter as the primary font.</a:t>
            </a:r>
          </a:p>
        </p:txBody>
      </p:sp>
    </p:spTree>
    <p:extLst>
      <p:ext uri="{BB962C8B-B14F-4D97-AF65-F5344CB8AC3E}">
        <p14:creationId xmlns:p14="http://schemas.microsoft.com/office/powerpoint/2010/main" val="8383526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2051777" y="1904800"/>
            <a:ext cx="13722913" cy="13722913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184300" y="-5129608"/>
            <a:ext cx="7034408" cy="7034408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4433773" y="9062399"/>
            <a:ext cx="5143500" cy="5143500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 rot="5400000">
            <a:off x="-4685509" y="3955733"/>
            <a:ext cx="10536641" cy="2375534"/>
          </a:xfrm>
          <a:custGeom>
            <a:avLst/>
            <a:gdLst/>
            <a:ahLst/>
            <a:cxnLst/>
            <a:rect l="l" t="t" r="r" b="b"/>
            <a:pathLst>
              <a:path w="10536641" h="2375534">
                <a:moveTo>
                  <a:pt x="0" y="0"/>
                </a:moveTo>
                <a:lnTo>
                  <a:pt x="10536641" y="0"/>
                </a:lnTo>
                <a:lnTo>
                  <a:pt x="10536641" y="2375534"/>
                </a:lnTo>
                <a:lnTo>
                  <a:pt x="0" y="237553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7194118" y="-1612404"/>
            <a:ext cx="5014772" cy="4449470"/>
          </a:xfrm>
          <a:custGeom>
            <a:avLst/>
            <a:gdLst/>
            <a:ahLst/>
            <a:cxnLst/>
            <a:rect l="l" t="t" r="r" b="b"/>
            <a:pathLst>
              <a:path w="5014772" h="4449470">
                <a:moveTo>
                  <a:pt x="0" y="0"/>
                </a:moveTo>
                <a:lnTo>
                  <a:pt x="5014772" y="0"/>
                </a:lnTo>
                <a:lnTo>
                  <a:pt x="5014772" y="4449471"/>
                </a:lnTo>
                <a:lnTo>
                  <a:pt x="0" y="444947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6184300" y="7883197"/>
            <a:ext cx="5014772" cy="4449470"/>
          </a:xfrm>
          <a:custGeom>
            <a:avLst/>
            <a:gdLst/>
            <a:ahLst/>
            <a:cxnLst/>
            <a:rect l="l" t="t" r="r" b="b"/>
            <a:pathLst>
              <a:path w="5014772" h="4449470">
                <a:moveTo>
                  <a:pt x="0" y="0"/>
                </a:moveTo>
                <a:lnTo>
                  <a:pt x="5014772" y="0"/>
                </a:lnTo>
                <a:lnTo>
                  <a:pt x="5014772" y="4449471"/>
                </a:lnTo>
                <a:lnTo>
                  <a:pt x="0" y="444947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11671136" y="3426200"/>
            <a:ext cx="5440240" cy="4114800"/>
          </a:xfrm>
          <a:custGeom>
            <a:avLst/>
            <a:gdLst/>
            <a:ahLst/>
            <a:cxnLst/>
            <a:rect l="l" t="t" r="r" b="b"/>
            <a:pathLst>
              <a:path w="5440240" h="4114800">
                <a:moveTo>
                  <a:pt x="0" y="0"/>
                </a:moveTo>
                <a:lnTo>
                  <a:pt x="5440241" y="0"/>
                </a:lnTo>
                <a:lnTo>
                  <a:pt x="5440241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7924801" y="1179427"/>
            <a:ext cx="9210416" cy="10156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sz="6600" b="1" dirty="0"/>
              <a:t>Specifying Layout</a:t>
            </a:r>
            <a:endParaRPr lang="en-US" sz="6600" dirty="0"/>
          </a:p>
        </p:txBody>
      </p:sp>
      <p:sp>
        <p:nvSpPr>
          <p:cNvPr id="16" name="TextBox 16"/>
          <p:cNvSpPr txBox="1"/>
          <p:nvPr/>
        </p:nvSpPr>
        <p:spPr>
          <a:xfrm>
            <a:off x="1241760" y="3801369"/>
            <a:ext cx="8409932" cy="8863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</a:rPr>
              <a:t>Describe how the website should be arranged.</a:t>
            </a:r>
          </a:p>
          <a:p>
            <a:r>
              <a:rPr lang="en-US" sz="3600" dirty="0">
                <a:solidFill>
                  <a:schemeClr val="bg1"/>
                </a:solidFill>
              </a:rPr>
              <a:t>For example:</a:t>
            </a:r>
          </a:p>
          <a:p>
            <a:r>
              <a:rPr lang="en-US" sz="3600" dirty="0">
                <a:solidFill>
                  <a:schemeClr val="bg1"/>
                </a:solidFill>
              </a:rPr>
              <a:t>Create a two-column hero section.</a:t>
            </a:r>
          </a:p>
          <a:p>
            <a:r>
              <a:rPr lang="en-US" sz="3600" dirty="0">
                <a:solidFill>
                  <a:schemeClr val="bg1"/>
                </a:solidFill>
              </a:rPr>
              <a:t> </a:t>
            </a:r>
          </a:p>
          <a:p>
            <a:r>
              <a:rPr lang="en-US" sz="3600" dirty="0">
                <a:solidFill>
                  <a:schemeClr val="bg1"/>
                </a:solidFill>
              </a:rPr>
              <a:t>Left side:</a:t>
            </a:r>
          </a:p>
          <a:p>
            <a:r>
              <a:rPr lang="en-US" sz="3600" dirty="0">
                <a:solidFill>
                  <a:schemeClr val="bg1"/>
                </a:solidFill>
              </a:rPr>
              <a:t>- Heading</a:t>
            </a:r>
          </a:p>
          <a:p>
            <a:r>
              <a:rPr lang="en-US" sz="3600" dirty="0">
                <a:solidFill>
                  <a:schemeClr val="bg1"/>
                </a:solidFill>
              </a:rPr>
              <a:t>- Description</a:t>
            </a:r>
          </a:p>
          <a:p>
            <a:r>
              <a:rPr lang="en-US" sz="3600" dirty="0">
                <a:solidFill>
                  <a:schemeClr val="bg1"/>
                </a:solidFill>
              </a:rPr>
              <a:t>- CTA buttons</a:t>
            </a:r>
          </a:p>
          <a:p>
            <a:r>
              <a:rPr lang="en-US" sz="3600" dirty="0">
                <a:solidFill>
                  <a:schemeClr val="bg1"/>
                </a:solidFill>
              </a:rPr>
              <a:t> </a:t>
            </a:r>
          </a:p>
          <a:p>
            <a:r>
              <a:rPr lang="en-US" sz="3600" dirty="0">
                <a:solidFill>
                  <a:schemeClr val="bg1"/>
                </a:solidFill>
              </a:rPr>
              <a:t>Right side:</a:t>
            </a:r>
          </a:p>
          <a:p>
            <a:r>
              <a:rPr lang="en-US" sz="3600" dirty="0">
                <a:solidFill>
                  <a:schemeClr val="bg1"/>
                </a:solidFill>
              </a:rPr>
              <a:t>- Product illustration</a:t>
            </a:r>
          </a:p>
          <a:p>
            <a:r>
              <a:rPr lang="en-US" sz="3600" dirty="0">
                <a:solidFill>
                  <a:schemeClr val="bg1"/>
                </a:solidFill>
              </a:rPr>
              <a:t>- Floating feature cards</a:t>
            </a:r>
          </a:p>
          <a:p>
            <a:r>
              <a:rPr lang="en-US" sz="3600" dirty="0">
                <a:solidFill>
                  <a:schemeClr val="bg1"/>
                </a:solidFill>
              </a:rPr>
              <a:t>Instead of:</a:t>
            </a:r>
          </a:p>
          <a:p>
            <a:r>
              <a:rPr lang="en-US" sz="3600" dirty="0">
                <a:solidFill>
                  <a:schemeClr val="bg1"/>
                </a:solidFill>
              </a:rPr>
              <a:t>Create a hero section.</a:t>
            </a:r>
          </a:p>
          <a:p>
            <a:r>
              <a:rPr lang="en-US" sz="3600" dirty="0">
                <a:solidFill>
                  <a:schemeClr val="bg1"/>
                </a:solidFill>
              </a:rPr>
              <a:t>The detailed version gives AI a clearer layout.</a:t>
            </a:r>
          </a:p>
        </p:txBody>
      </p:sp>
    </p:spTree>
    <p:extLst>
      <p:ext uri="{BB962C8B-B14F-4D97-AF65-F5344CB8AC3E}">
        <p14:creationId xmlns:p14="http://schemas.microsoft.com/office/powerpoint/2010/main" val="38405289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2051777" y="1904800"/>
            <a:ext cx="13722913" cy="13722913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184300" y="-5129608"/>
            <a:ext cx="7034408" cy="7034408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4433773" y="9062399"/>
            <a:ext cx="5143500" cy="5143500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 rot="5400000">
            <a:off x="-4685509" y="3955733"/>
            <a:ext cx="10536641" cy="2375534"/>
          </a:xfrm>
          <a:custGeom>
            <a:avLst/>
            <a:gdLst/>
            <a:ahLst/>
            <a:cxnLst/>
            <a:rect l="l" t="t" r="r" b="b"/>
            <a:pathLst>
              <a:path w="10536641" h="2375534">
                <a:moveTo>
                  <a:pt x="0" y="0"/>
                </a:moveTo>
                <a:lnTo>
                  <a:pt x="10536641" y="0"/>
                </a:lnTo>
                <a:lnTo>
                  <a:pt x="10536641" y="2375534"/>
                </a:lnTo>
                <a:lnTo>
                  <a:pt x="0" y="237553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7194118" y="-1612404"/>
            <a:ext cx="5014772" cy="4449470"/>
          </a:xfrm>
          <a:custGeom>
            <a:avLst/>
            <a:gdLst/>
            <a:ahLst/>
            <a:cxnLst/>
            <a:rect l="l" t="t" r="r" b="b"/>
            <a:pathLst>
              <a:path w="5014772" h="4449470">
                <a:moveTo>
                  <a:pt x="0" y="0"/>
                </a:moveTo>
                <a:lnTo>
                  <a:pt x="5014772" y="0"/>
                </a:lnTo>
                <a:lnTo>
                  <a:pt x="5014772" y="4449471"/>
                </a:lnTo>
                <a:lnTo>
                  <a:pt x="0" y="444947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6184300" y="7883197"/>
            <a:ext cx="5014772" cy="4449470"/>
          </a:xfrm>
          <a:custGeom>
            <a:avLst/>
            <a:gdLst/>
            <a:ahLst/>
            <a:cxnLst/>
            <a:rect l="l" t="t" r="r" b="b"/>
            <a:pathLst>
              <a:path w="5014772" h="4449470">
                <a:moveTo>
                  <a:pt x="0" y="0"/>
                </a:moveTo>
                <a:lnTo>
                  <a:pt x="5014772" y="0"/>
                </a:lnTo>
                <a:lnTo>
                  <a:pt x="5014772" y="4449471"/>
                </a:lnTo>
                <a:lnTo>
                  <a:pt x="0" y="444947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11671136" y="3426200"/>
            <a:ext cx="5440240" cy="4114800"/>
          </a:xfrm>
          <a:custGeom>
            <a:avLst/>
            <a:gdLst/>
            <a:ahLst/>
            <a:cxnLst/>
            <a:rect l="l" t="t" r="r" b="b"/>
            <a:pathLst>
              <a:path w="5440240" h="4114800">
                <a:moveTo>
                  <a:pt x="0" y="0"/>
                </a:moveTo>
                <a:lnTo>
                  <a:pt x="5440241" y="0"/>
                </a:lnTo>
                <a:lnTo>
                  <a:pt x="5440241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6400800" y="1179427"/>
            <a:ext cx="10734417" cy="8686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605"/>
              </a:lnSpc>
            </a:pPr>
            <a:r>
              <a:rPr lang="en-US" sz="6600" b="1" dirty="0"/>
              <a:t>Specifying Website Sections</a:t>
            </a:r>
            <a:endParaRPr lang="en-US" sz="606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1241760" y="2812137"/>
            <a:ext cx="8409932" cy="94179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</a:rPr>
              <a:t>Tell AI exactly what sections you want.</a:t>
            </a:r>
          </a:p>
          <a:p>
            <a:r>
              <a:rPr lang="en-US" sz="3600" dirty="0">
                <a:solidFill>
                  <a:schemeClr val="bg1"/>
                </a:solidFill>
              </a:rPr>
              <a:t>For example:</a:t>
            </a:r>
          </a:p>
          <a:p>
            <a:r>
              <a:rPr lang="en-US" sz="3600" dirty="0">
                <a:solidFill>
                  <a:schemeClr val="bg1"/>
                </a:solidFill>
              </a:rPr>
              <a:t>Include:</a:t>
            </a:r>
          </a:p>
          <a:p>
            <a:r>
              <a:rPr lang="en-US" sz="3600" dirty="0">
                <a:solidFill>
                  <a:schemeClr val="bg1"/>
                </a:solidFill>
              </a:rPr>
              <a:t> </a:t>
            </a:r>
          </a:p>
          <a:p>
            <a:r>
              <a:rPr lang="en-US" sz="3600" dirty="0">
                <a:solidFill>
                  <a:schemeClr val="bg1"/>
                </a:solidFill>
              </a:rPr>
              <a:t>1. Navigation</a:t>
            </a:r>
          </a:p>
          <a:p>
            <a:r>
              <a:rPr lang="en-US" sz="3600" dirty="0">
                <a:solidFill>
                  <a:schemeClr val="bg1"/>
                </a:solidFill>
              </a:rPr>
              <a:t>2. Hero</a:t>
            </a:r>
          </a:p>
          <a:p>
            <a:r>
              <a:rPr lang="en-US" sz="3600" dirty="0">
                <a:solidFill>
                  <a:schemeClr val="bg1"/>
                </a:solidFill>
              </a:rPr>
              <a:t>3. Services</a:t>
            </a:r>
          </a:p>
          <a:p>
            <a:r>
              <a:rPr lang="en-US" sz="3600" dirty="0">
                <a:solidFill>
                  <a:schemeClr val="bg1"/>
                </a:solidFill>
              </a:rPr>
              <a:t>4. Features</a:t>
            </a:r>
          </a:p>
          <a:p>
            <a:r>
              <a:rPr lang="en-US" sz="3600" dirty="0">
                <a:solidFill>
                  <a:schemeClr val="bg1"/>
                </a:solidFill>
              </a:rPr>
              <a:t>5. How It Works</a:t>
            </a:r>
          </a:p>
          <a:p>
            <a:r>
              <a:rPr lang="en-US" sz="3600" dirty="0">
                <a:solidFill>
                  <a:schemeClr val="bg1"/>
                </a:solidFill>
              </a:rPr>
              <a:t>6. Testimonials</a:t>
            </a:r>
          </a:p>
          <a:p>
            <a:r>
              <a:rPr lang="en-US" sz="3600" dirty="0">
                <a:solidFill>
                  <a:schemeClr val="bg1"/>
                </a:solidFill>
              </a:rPr>
              <a:t>7. Pricing</a:t>
            </a:r>
          </a:p>
          <a:p>
            <a:r>
              <a:rPr lang="en-US" sz="3600" dirty="0">
                <a:solidFill>
                  <a:schemeClr val="bg1"/>
                </a:solidFill>
              </a:rPr>
              <a:t>8. FAQ</a:t>
            </a:r>
          </a:p>
          <a:p>
            <a:r>
              <a:rPr lang="en-US" sz="3600" dirty="0">
                <a:solidFill>
                  <a:schemeClr val="bg1"/>
                </a:solidFill>
              </a:rPr>
              <a:t>9. Call-to-action</a:t>
            </a:r>
          </a:p>
          <a:p>
            <a:r>
              <a:rPr lang="en-US" sz="3600" dirty="0">
                <a:solidFill>
                  <a:schemeClr val="bg1"/>
                </a:solidFill>
              </a:rPr>
              <a:t>10. </a:t>
            </a:r>
            <a:r>
              <a:rPr lang="en-US" sz="3600" dirty="0" smtClean="0">
                <a:solidFill>
                  <a:schemeClr val="bg1"/>
                </a:solidFill>
              </a:rPr>
              <a:t>Footer</a:t>
            </a:r>
          </a:p>
          <a:p>
            <a:endParaRPr lang="en-US" sz="3600" dirty="0">
              <a:solidFill>
                <a:schemeClr val="bg1"/>
              </a:solidFill>
            </a:endParaRPr>
          </a:p>
          <a:p>
            <a:r>
              <a:rPr lang="en-US" sz="3600" dirty="0">
                <a:solidFill>
                  <a:schemeClr val="bg1"/>
                </a:solidFill>
              </a:rPr>
              <a:t>This reduces the chance that important sections will be forgotten.</a:t>
            </a:r>
          </a:p>
        </p:txBody>
      </p:sp>
    </p:spTree>
    <p:extLst>
      <p:ext uri="{BB962C8B-B14F-4D97-AF65-F5344CB8AC3E}">
        <p14:creationId xmlns:p14="http://schemas.microsoft.com/office/powerpoint/2010/main" val="42625527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368171">
            <a:off x="6682386" y="2564091"/>
            <a:ext cx="8325708" cy="7947266"/>
          </a:xfrm>
          <a:custGeom>
            <a:avLst/>
            <a:gdLst/>
            <a:ahLst/>
            <a:cxnLst/>
            <a:rect l="l" t="t" r="r" b="b"/>
            <a:pathLst>
              <a:path w="8325708" h="7947266">
                <a:moveTo>
                  <a:pt x="0" y="0"/>
                </a:moveTo>
                <a:lnTo>
                  <a:pt x="8325708" y="0"/>
                </a:lnTo>
                <a:lnTo>
                  <a:pt x="8325708" y="7947266"/>
                </a:lnTo>
                <a:lnTo>
                  <a:pt x="0" y="79472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8999"/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-4538771" y="-249641"/>
            <a:ext cx="10786283" cy="10786283"/>
            <a:chOff x="0" y="0"/>
            <a:chExt cx="812800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545393" y="1028700"/>
            <a:ext cx="3833305" cy="8229600"/>
            <a:chOff x="0" y="0"/>
            <a:chExt cx="593879" cy="12749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93879" cy="1274980"/>
            </a:xfrm>
            <a:custGeom>
              <a:avLst/>
              <a:gdLst/>
              <a:ahLst/>
              <a:cxnLst/>
              <a:rect l="l" t="t" r="r" b="b"/>
              <a:pathLst>
                <a:path w="593879" h="1274980">
                  <a:moveTo>
                    <a:pt x="201965" y="0"/>
                  </a:moveTo>
                  <a:lnTo>
                    <a:pt x="391915" y="0"/>
                  </a:lnTo>
                  <a:cubicBezTo>
                    <a:pt x="503457" y="0"/>
                    <a:pt x="593879" y="90423"/>
                    <a:pt x="593879" y="201965"/>
                  </a:cubicBezTo>
                  <a:lnTo>
                    <a:pt x="593879" y="1073016"/>
                  </a:lnTo>
                  <a:cubicBezTo>
                    <a:pt x="593879" y="1126580"/>
                    <a:pt x="572601" y="1177951"/>
                    <a:pt x="534725" y="1215826"/>
                  </a:cubicBezTo>
                  <a:cubicBezTo>
                    <a:pt x="496850" y="1253702"/>
                    <a:pt x="445479" y="1274980"/>
                    <a:pt x="391915" y="1274980"/>
                  </a:cubicBezTo>
                  <a:lnTo>
                    <a:pt x="201965" y="1274980"/>
                  </a:lnTo>
                  <a:cubicBezTo>
                    <a:pt x="90423" y="1274980"/>
                    <a:pt x="0" y="1184558"/>
                    <a:pt x="0" y="1073016"/>
                  </a:cubicBezTo>
                  <a:lnTo>
                    <a:pt x="0" y="201965"/>
                  </a:lnTo>
                  <a:cubicBezTo>
                    <a:pt x="0" y="90423"/>
                    <a:pt x="90423" y="0"/>
                    <a:pt x="201965" y="0"/>
                  </a:cubicBezTo>
                  <a:close/>
                </a:path>
              </a:pathLst>
            </a:custGeom>
            <a:blipFill>
              <a:blip r:embed="rId4"/>
              <a:stretch>
                <a:fillRect l="-43035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17259300" y="-499283"/>
            <a:ext cx="10786283" cy="10786283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 rot="5400000">
            <a:off x="-4080554" y="3955733"/>
            <a:ext cx="10536641" cy="2375534"/>
          </a:xfrm>
          <a:custGeom>
            <a:avLst/>
            <a:gdLst/>
            <a:ahLst/>
            <a:cxnLst/>
            <a:rect l="l" t="t" r="r" b="b"/>
            <a:pathLst>
              <a:path w="10536641" h="2375534">
                <a:moveTo>
                  <a:pt x="0" y="0"/>
                </a:moveTo>
                <a:lnTo>
                  <a:pt x="10536642" y="0"/>
                </a:lnTo>
                <a:lnTo>
                  <a:pt x="10536642" y="2375534"/>
                </a:lnTo>
                <a:lnTo>
                  <a:pt x="0" y="237553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7259300" y="4480324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=""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6582687" y="-2057400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=""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5240933" y="8744932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=""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8229600" y="1179427"/>
            <a:ext cx="8905616" cy="8686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605"/>
              </a:lnSpc>
            </a:pPr>
            <a:r>
              <a:rPr lang="en-US" sz="6600" b="1" dirty="0" smtClean="0"/>
              <a:t>Specifying </a:t>
            </a:r>
            <a:r>
              <a:rPr lang="en-US" sz="6600" b="1" dirty="0"/>
              <a:t>Components</a:t>
            </a:r>
            <a:endParaRPr lang="en-US" sz="606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7739430" y="2400300"/>
            <a:ext cx="9261351" cy="54168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3200" dirty="0"/>
              <a:t>You can ask AI to create specific UI components</a:t>
            </a:r>
            <a:r>
              <a:rPr lang="en-US" sz="3200" dirty="0" smtClean="0"/>
              <a:t>.</a:t>
            </a:r>
          </a:p>
          <a:p>
            <a:endParaRPr lang="en-US" sz="3200" dirty="0"/>
          </a:p>
          <a:p>
            <a:r>
              <a:rPr lang="en-US" sz="3200" dirty="0"/>
              <a:t>Examples</a:t>
            </a:r>
            <a:r>
              <a:rPr lang="en-US" sz="3200" dirty="0" smtClean="0"/>
              <a:t>:</a:t>
            </a:r>
          </a:p>
          <a:p>
            <a:endParaRPr lang="en-US" sz="3200" dirty="0"/>
          </a:p>
          <a:p>
            <a:r>
              <a:rPr lang="en-US" sz="3200" dirty="0"/>
              <a:t>Create a responsive </a:t>
            </a:r>
            <a:r>
              <a:rPr lang="en-US" sz="3200" dirty="0" err="1"/>
              <a:t>navbar</a:t>
            </a:r>
            <a:r>
              <a:rPr lang="en-US" sz="3200" dirty="0"/>
              <a:t>.</a:t>
            </a:r>
          </a:p>
          <a:p>
            <a:r>
              <a:rPr lang="en-US" sz="3200" dirty="0"/>
              <a:t>Create a product card.</a:t>
            </a:r>
          </a:p>
          <a:p>
            <a:r>
              <a:rPr lang="en-US" sz="3200" dirty="0"/>
              <a:t>Create a pricing card.</a:t>
            </a:r>
          </a:p>
          <a:p>
            <a:r>
              <a:rPr lang="en-US" sz="3200" dirty="0"/>
              <a:t>Create a login form.</a:t>
            </a:r>
          </a:p>
          <a:p>
            <a:r>
              <a:rPr lang="en-US" sz="3200" dirty="0"/>
              <a:t>Create a responsive admin sidebar.</a:t>
            </a:r>
          </a:p>
          <a:p>
            <a:r>
              <a:rPr lang="en-US" sz="3200" dirty="0"/>
              <a:t>Create a modal for confirming transactions</a:t>
            </a:r>
            <a:r>
              <a:rPr lang="en-US" sz="3200" dirty="0" smtClean="0"/>
              <a:t>.</a:t>
            </a:r>
          </a:p>
          <a:p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29987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368171">
            <a:off x="6682386" y="2599036"/>
            <a:ext cx="8325708" cy="7947266"/>
          </a:xfrm>
          <a:custGeom>
            <a:avLst/>
            <a:gdLst/>
            <a:ahLst/>
            <a:cxnLst/>
            <a:rect l="l" t="t" r="r" b="b"/>
            <a:pathLst>
              <a:path w="8325708" h="7947266">
                <a:moveTo>
                  <a:pt x="0" y="0"/>
                </a:moveTo>
                <a:lnTo>
                  <a:pt x="8325708" y="0"/>
                </a:lnTo>
                <a:lnTo>
                  <a:pt x="8325708" y="7947266"/>
                </a:lnTo>
                <a:lnTo>
                  <a:pt x="0" y="79472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8999"/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-4538771" y="-249641"/>
            <a:ext cx="10786283" cy="10786283"/>
            <a:chOff x="0" y="0"/>
            <a:chExt cx="812800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545393" y="1028700"/>
            <a:ext cx="3833305" cy="8229600"/>
            <a:chOff x="0" y="0"/>
            <a:chExt cx="593879" cy="12749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93879" cy="1274980"/>
            </a:xfrm>
            <a:custGeom>
              <a:avLst/>
              <a:gdLst/>
              <a:ahLst/>
              <a:cxnLst/>
              <a:rect l="l" t="t" r="r" b="b"/>
              <a:pathLst>
                <a:path w="593879" h="1274980">
                  <a:moveTo>
                    <a:pt x="201965" y="0"/>
                  </a:moveTo>
                  <a:lnTo>
                    <a:pt x="391915" y="0"/>
                  </a:lnTo>
                  <a:cubicBezTo>
                    <a:pt x="503457" y="0"/>
                    <a:pt x="593879" y="90423"/>
                    <a:pt x="593879" y="201965"/>
                  </a:cubicBezTo>
                  <a:lnTo>
                    <a:pt x="593879" y="1073016"/>
                  </a:lnTo>
                  <a:cubicBezTo>
                    <a:pt x="593879" y="1126580"/>
                    <a:pt x="572601" y="1177951"/>
                    <a:pt x="534725" y="1215826"/>
                  </a:cubicBezTo>
                  <a:cubicBezTo>
                    <a:pt x="496850" y="1253702"/>
                    <a:pt x="445479" y="1274980"/>
                    <a:pt x="391915" y="1274980"/>
                  </a:cubicBezTo>
                  <a:lnTo>
                    <a:pt x="201965" y="1274980"/>
                  </a:lnTo>
                  <a:cubicBezTo>
                    <a:pt x="90423" y="1274980"/>
                    <a:pt x="0" y="1184558"/>
                    <a:pt x="0" y="1073016"/>
                  </a:cubicBezTo>
                  <a:lnTo>
                    <a:pt x="0" y="201965"/>
                  </a:lnTo>
                  <a:cubicBezTo>
                    <a:pt x="0" y="90423"/>
                    <a:pt x="90423" y="0"/>
                    <a:pt x="201965" y="0"/>
                  </a:cubicBezTo>
                  <a:close/>
                </a:path>
              </a:pathLst>
            </a:custGeom>
            <a:blipFill>
              <a:blip r:embed="rId4"/>
              <a:stretch>
                <a:fillRect l="-43035"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17259300" y="-499283"/>
            <a:ext cx="10786283" cy="10786283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 rot="5400000">
            <a:off x="-4080554" y="3955733"/>
            <a:ext cx="10536641" cy="2375534"/>
          </a:xfrm>
          <a:custGeom>
            <a:avLst/>
            <a:gdLst/>
            <a:ahLst/>
            <a:cxnLst/>
            <a:rect l="l" t="t" r="r" b="b"/>
            <a:pathLst>
              <a:path w="10536641" h="2375534">
                <a:moveTo>
                  <a:pt x="0" y="0"/>
                </a:moveTo>
                <a:lnTo>
                  <a:pt x="10536642" y="0"/>
                </a:lnTo>
                <a:lnTo>
                  <a:pt x="10536642" y="2375534"/>
                </a:lnTo>
                <a:lnTo>
                  <a:pt x="0" y="237553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7259300" y="4480324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=""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6582687" y="-2057400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=""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5240933" y="8744932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=""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7415229" y="419100"/>
            <a:ext cx="9719987" cy="84638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605"/>
              </a:lnSpc>
            </a:pPr>
            <a:r>
              <a:rPr lang="en-US" sz="6600" b="1" dirty="0"/>
              <a:t>Specifying User Interactions</a:t>
            </a:r>
            <a:endParaRPr lang="en-US" sz="606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6781800" y="1420177"/>
            <a:ext cx="11201400" cy="73866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3200" dirty="0"/>
              <a:t>A web design prompt should describe how users should interact with the interface</a:t>
            </a:r>
            <a:r>
              <a:rPr lang="en-US" sz="3200" dirty="0" smtClean="0"/>
              <a:t>.</a:t>
            </a:r>
          </a:p>
          <a:p>
            <a:endParaRPr lang="en-US" sz="3200" dirty="0"/>
          </a:p>
          <a:p>
            <a:r>
              <a:rPr lang="en-US" sz="3200" dirty="0"/>
              <a:t>For example</a:t>
            </a:r>
            <a:r>
              <a:rPr lang="en-US" sz="3200" dirty="0" smtClean="0"/>
              <a:t>:</a:t>
            </a:r>
            <a:endParaRPr lang="en-US" sz="3200" dirty="0"/>
          </a:p>
          <a:p>
            <a:r>
              <a:rPr lang="en-US" sz="3200" dirty="0" smtClean="0"/>
              <a:t>“When </a:t>
            </a:r>
            <a:r>
              <a:rPr lang="en-US" sz="3200" dirty="0"/>
              <a:t>the user clicks the hamburger icon,</a:t>
            </a:r>
          </a:p>
          <a:p>
            <a:r>
              <a:rPr lang="en-US" sz="3200" dirty="0"/>
              <a:t>open the mobile navigation menu</a:t>
            </a:r>
            <a:r>
              <a:rPr lang="en-US" sz="3200" dirty="0" smtClean="0"/>
              <a:t>.</a:t>
            </a:r>
            <a:endParaRPr lang="en-US" sz="3200" dirty="0"/>
          </a:p>
          <a:p>
            <a:r>
              <a:rPr lang="en-US" sz="3200" dirty="0"/>
              <a:t> </a:t>
            </a:r>
          </a:p>
          <a:p>
            <a:r>
              <a:rPr lang="en-US" sz="3200" dirty="0"/>
              <a:t>When the menu is open, clicking outside the menu should close it</a:t>
            </a:r>
            <a:r>
              <a:rPr lang="en-US" sz="3200" dirty="0" smtClean="0"/>
              <a:t>.”</a:t>
            </a:r>
          </a:p>
          <a:p>
            <a:endParaRPr lang="en-US" sz="3200" dirty="0"/>
          </a:p>
          <a:p>
            <a:r>
              <a:rPr lang="en-US" sz="3200" dirty="0"/>
              <a:t>Another example</a:t>
            </a:r>
            <a:r>
              <a:rPr lang="en-US" sz="3200" dirty="0" smtClean="0"/>
              <a:t>:</a:t>
            </a:r>
            <a:endParaRPr lang="en-US" sz="3200" dirty="0"/>
          </a:p>
          <a:p>
            <a:r>
              <a:rPr lang="en-US" sz="3200" dirty="0" smtClean="0"/>
              <a:t>“When </a:t>
            </a:r>
            <a:r>
              <a:rPr lang="en-US" sz="3200" dirty="0"/>
              <a:t>the user submits the form,</a:t>
            </a:r>
          </a:p>
          <a:p>
            <a:r>
              <a:rPr lang="en-US" sz="3200" dirty="0"/>
              <a:t>validate all required fields and display appropriate</a:t>
            </a:r>
          </a:p>
          <a:p>
            <a:r>
              <a:rPr lang="en-US" sz="3200" dirty="0"/>
              <a:t>error messages below the fields</a:t>
            </a:r>
            <a:r>
              <a:rPr lang="en-US" sz="3200" dirty="0" smtClean="0"/>
              <a:t>.”</a:t>
            </a:r>
          </a:p>
          <a:p>
            <a:endParaRPr lang="en-US" sz="3200" dirty="0"/>
          </a:p>
          <a:p>
            <a:r>
              <a:rPr lang="en-US" sz="3200" dirty="0"/>
              <a:t>This moves the prompt from static design into interactive design.</a:t>
            </a:r>
          </a:p>
        </p:txBody>
      </p:sp>
    </p:spTree>
    <p:extLst>
      <p:ext uri="{BB962C8B-B14F-4D97-AF65-F5344CB8AC3E}">
        <p14:creationId xmlns:p14="http://schemas.microsoft.com/office/powerpoint/2010/main" val="22750118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3768924" y="6735187"/>
            <a:ext cx="9460517" cy="9460517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377858" y="7663815"/>
            <a:ext cx="5246370" cy="5246370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2"/>
              <a:stretch>
                <a:fillRect t="-24906" b="-24906"/>
              </a:stretch>
            </a:blipFill>
          </p:spPr>
        </p:sp>
      </p:grpSp>
      <p:sp>
        <p:nvSpPr>
          <p:cNvPr id="7" name="Freeform 7"/>
          <p:cNvSpPr/>
          <p:nvPr/>
        </p:nvSpPr>
        <p:spPr>
          <a:xfrm rot="-1368171">
            <a:off x="8990179" y="3362764"/>
            <a:ext cx="8325708" cy="7947266"/>
          </a:xfrm>
          <a:custGeom>
            <a:avLst/>
            <a:gdLst/>
            <a:ahLst/>
            <a:cxnLst/>
            <a:rect l="l" t="t" r="r" b="b"/>
            <a:pathLst>
              <a:path w="8325708" h="7947266">
                <a:moveTo>
                  <a:pt x="0" y="0"/>
                </a:moveTo>
                <a:lnTo>
                  <a:pt x="8325708" y="0"/>
                </a:lnTo>
                <a:lnTo>
                  <a:pt x="8325708" y="7947266"/>
                </a:lnTo>
                <a:lnTo>
                  <a:pt x="0" y="794726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8999"/>
              <a:extLst>
                <a:ext uri="{96DAC541-7B7A-43D3-8B79-37D633B846F1}">
                  <asvg:svgBlip xmlns=""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12596407" y="-5908704"/>
            <a:ext cx="9460517" cy="946051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2663772" y="-2623185"/>
            <a:ext cx="5246370" cy="5246370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5"/>
              <a:stretch>
                <a:fillRect b="-50093"/>
              </a:stretch>
            </a:blipFill>
          </p:spPr>
        </p:sp>
      </p:grpSp>
      <p:sp>
        <p:nvSpPr>
          <p:cNvPr id="13" name="Freeform 13"/>
          <p:cNvSpPr/>
          <p:nvPr/>
        </p:nvSpPr>
        <p:spPr>
          <a:xfrm>
            <a:off x="16697199" y="1028700"/>
            <a:ext cx="5359726" cy="4755538"/>
          </a:xfrm>
          <a:custGeom>
            <a:avLst/>
            <a:gdLst/>
            <a:ahLst/>
            <a:cxnLst/>
            <a:rect l="l" t="t" r="r" b="b"/>
            <a:pathLst>
              <a:path w="5359726" h="4755538">
                <a:moveTo>
                  <a:pt x="0" y="0"/>
                </a:moveTo>
                <a:lnTo>
                  <a:pt x="5359725" y="0"/>
                </a:lnTo>
                <a:lnTo>
                  <a:pt x="5359725" y="4755538"/>
                </a:lnTo>
                <a:lnTo>
                  <a:pt x="0" y="475553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-3768924" y="6446453"/>
            <a:ext cx="5359726" cy="4755538"/>
          </a:xfrm>
          <a:custGeom>
            <a:avLst/>
            <a:gdLst/>
            <a:ahLst/>
            <a:cxnLst/>
            <a:rect l="l" t="t" r="r" b="b"/>
            <a:pathLst>
              <a:path w="5359726" h="4755538">
                <a:moveTo>
                  <a:pt x="0" y="0"/>
                </a:moveTo>
                <a:lnTo>
                  <a:pt x="5359725" y="0"/>
                </a:lnTo>
                <a:lnTo>
                  <a:pt x="5359725" y="4755538"/>
                </a:lnTo>
                <a:lnTo>
                  <a:pt x="0" y="475553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1287690" y="342900"/>
            <a:ext cx="11437710" cy="84638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605"/>
              </a:lnSpc>
            </a:pPr>
            <a:r>
              <a:rPr lang="en-US" sz="6600" b="1" dirty="0"/>
              <a:t>Specifying Responsive Behavior</a:t>
            </a:r>
            <a:endParaRPr lang="en-US" sz="606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1676400" y="1409700"/>
            <a:ext cx="11760941" cy="78790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3200" dirty="0"/>
              <a:t>Don't simply say:</a:t>
            </a:r>
          </a:p>
          <a:p>
            <a:r>
              <a:rPr lang="en-US" sz="3200" dirty="0" smtClean="0"/>
              <a:t>“Make </a:t>
            </a:r>
            <a:r>
              <a:rPr lang="en-US" sz="3200" dirty="0"/>
              <a:t>it responsive</a:t>
            </a:r>
            <a:r>
              <a:rPr lang="en-US" sz="3200" dirty="0" smtClean="0"/>
              <a:t>.”</a:t>
            </a:r>
          </a:p>
          <a:p>
            <a:endParaRPr lang="en-US" sz="3200" dirty="0"/>
          </a:p>
          <a:p>
            <a:r>
              <a:rPr lang="en-US" sz="3200" dirty="0"/>
              <a:t>Be more specific</a:t>
            </a:r>
            <a:r>
              <a:rPr lang="en-US" sz="3200" dirty="0" smtClean="0"/>
              <a:t>.</a:t>
            </a:r>
          </a:p>
          <a:p>
            <a:endParaRPr lang="en-US" sz="3200" dirty="0"/>
          </a:p>
          <a:p>
            <a:r>
              <a:rPr lang="en-US" sz="3200" dirty="0"/>
              <a:t>For example:</a:t>
            </a:r>
          </a:p>
          <a:p>
            <a:r>
              <a:rPr lang="en-US" sz="3200" dirty="0"/>
              <a:t>Desktop:</a:t>
            </a:r>
          </a:p>
          <a:p>
            <a:r>
              <a:rPr lang="en-US" sz="3200" dirty="0"/>
              <a:t>- Four product cards per row</a:t>
            </a:r>
            <a:r>
              <a:rPr lang="en-US" sz="3200" dirty="0" smtClean="0"/>
              <a:t>.</a:t>
            </a:r>
            <a:endParaRPr lang="en-US" sz="3200" dirty="0"/>
          </a:p>
          <a:p>
            <a:r>
              <a:rPr lang="en-US" sz="3200" dirty="0"/>
              <a:t>Tablet:</a:t>
            </a:r>
          </a:p>
          <a:p>
            <a:r>
              <a:rPr lang="en-US" sz="3200" dirty="0"/>
              <a:t>- Two product cards per row</a:t>
            </a:r>
            <a:r>
              <a:rPr lang="en-US" sz="3200" dirty="0" smtClean="0"/>
              <a:t>.</a:t>
            </a:r>
            <a:endParaRPr lang="en-US" sz="3200" dirty="0"/>
          </a:p>
          <a:p>
            <a:r>
              <a:rPr lang="en-US" sz="3200" dirty="0"/>
              <a:t>Mobile:</a:t>
            </a:r>
          </a:p>
          <a:p>
            <a:r>
              <a:rPr lang="en-US" sz="3200" dirty="0"/>
              <a:t>- One product card per row.</a:t>
            </a:r>
          </a:p>
          <a:p>
            <a:r>
              <a:rPr lang="en-US" sz="3200" dirty="0"/>
              <a:t> </a:t>
            </a:r>
          </a:p>
          <a:p>
            <a:r>
              <a:rPr lang="en-US" sz="3200" dirty="0"/>
              <a:t>The navigation should collapse into a hamburger menu</a:t>
            </a:r>
          </a:p>
          <a:p>
            <a:r>
              <a:rPr lang="en-US" sz="3200" dirty="0"/>
              <a:t>on screens below 768px.</a:t>
            </a:r>
          </a:p>
          <a:p>
            <a:r>
              <a:rPr lang="en-US" sz="3200" dirty="0"/>
              <a:t>This gives AI concrete responsive rules.</a:t>
            </a:r>
          </a:p>
        </p:txBody>
      </p:sp>
    </p:spTree>
    <p:extLst>
      <p:ext uri="{BB962C8B-B14F-4D97-AF65-F5344CB8AC3E}">
        <p14:creationId xmlns:p14="http://schemas.microsoft.com/office/powerpoint/2010/main" val="27979960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4538771" y="-249641"/>
            <a:ext cx="10786283" cy="10786283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2545393" y="1028700"/>
            <a:ext cx="3833305" cy="8229600"/>
            <a:chOff x="0" y="0"/>
            <a:chExt cx="593879" cy="127498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593879" cy="1274980"/>
            </a:xfrm>
            <a:custGeom>
              <a:avLst/>
              <a:gdLst/>
              <a:ahLst/>
              <a:cxnLst/>
              <a:rect l="l" t="t" r="r" b="b"/>
              <a:pathLst>
                <a:path w="593879" h="1274980">
                  <a:moveTo>
                    <a:pt x="201965" y="0"/>
                  </a:moveTo>
                  <a:lnTo>
                    <a:pt x="391915" y="0"/>
                  </a:lnTo>
                  <a:cubicBezTo>
                    <a:pt x="503457" y="0"/>
                    <a:pt x="593879" y="90423"/>
                    <a:pt x="593879" y="201965"/>
                  </a:cubicBezTo>
                  <a:lnTo>
                    <a:pt x="593879" y="1073016"/>
                  </a:lnTo>
                  <a:cubicBezTo>
                    <a:pt x="593879" y="1126580"/>
                    <a:pt x="572601" y="1177951"/>
                    <a:pt x="534725" y="1215826"/>
                  </a:cubicBezTo>
                  <a:cubicBezTo>
                    <a:pt x="496850" y="1253702"/>
                    <a:pt x="445479" y="1274980"/>
                    <a:pt x="391915" y="1274980"/>
                  </a:cubicBezTo>
                  <a:lnTo>
                    <a:pt x="201965" y="1274980"/>
                  </a:lnTo>
                  <a:cubicBezTo>
                    <a:pt x="90423" y="1274980"/>
                    <a:pt x="0" y="1184558"/>
                    <a:pt x="0" y="1073016"/>
                  </a:cubicBezTo>
                  <a:lnTo>
                    <a:pt x="0" y="201965"/>
                  </a:lnTo>
                  <a:cubicBezTo>
                    <a:pt x="0" y="90423"/>
                    <a:pt x="90423" y="0"/>
                    <a:pt x="201965" y="0"/>
                  </a:cubicBezTo>
                  <a:close/>
                </a:path>
              </a:pathLst>
            </a:custGeom>
            <a:blipFill>
              <a:blip r:embed="rId2"/>
              <a:stretch>
                <a:fillRect l="-21627" r="-21627"/>
              </a:stretch>
            </a:blipFill>
          </p:spPr>
        </p:sp>
      </p:grpSp>
      <p:sp>
        <p:nvSpPr>
          <p:cNvPr id="7" name="Freeform 7"/>
          <p:cNvSpPr/>
          <p:nvPr/>
        </p:nvSpPr>
        <p:spPr>
          <a:xfrm rot="-1368171">
            <a:off x="8138760" y="3002675"/>
            <a:ext cx="8325708" cy="7947266"/>
          </a:xfrm>
          <a:custGeom>
            <a:avLst/>
            <a:gdLst/>
            <a:ahLst/>
            <a:cxnLst/>
            <a:rect l="l" t="t" r="r" b="b"/>
            <a:pathLst>
              <a:path w="8325708" h="7947266">
                <a:moveTo>
                  <a:pt x="0" y="0"/>
                </a:moveTo>
                <a:lnTo>
                  <a:pt x="8325708" y="0"/>
                </a:lnTo>
                <a:lnTo>
                  <a:pt x="8325708" y="7947267"/>
                </a:lnTo>
                <a:lnTo>
                  <a:pt x="0" y="794726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8999"/>
              <a:extLst>
                <a:ext uri="{96DAC541-7B7A-43D3-8B79-37D633B846F1}">
                  <asvg:svgBlip xmlns=""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17354291" y="-499283"/>
            <a:ext cx="10786283" cy="10786283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 rot="5400000">
            <a:off x="-4080554" y="3955733"/>
            <a:ext cx="10536641" cy="2375534"/>
          </a:xfrm>
          <a:custGeom>
            <a:avLst/>
            <a:gdLst/>
            <a:ahLst/>
            <a:cxnLst/>
            <a:rect l="l" t="t" r="r" b="b"/>
            <a:pathLst>
              <a:path w="10536641" h="2375534">
                <a:moveTo>
                  <a:pt x="0" y="0"/>
                </a:moveTo>
                <a:lnTo>
                  <a:pt x="10536642" y="0"/>
                </a:lnTo>
                <a:lnTo>
                  <a:pt x="10536642" y="2375534"/>
                </a:lnTo>
                <a:lnTo>
                  <a:pt x="0" y="237553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7354291" y="4480324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=""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9067801" y="1179427"/>
            <a:ext cx="8067416" cy="84638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605"/>
              </a:lnSpc>
            </a:pPr>
            <a:r>
              <a:rPr lang="en-US" sz="6600" b="1" dirty="0"/>
              <a:t>Specifying Accessibility</a:t>
            </a:r>
            <a:endParaRPr lang="en-US" sz="606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7873865" y="2399347"/>
            <a:ext cx="9261351" cy="64017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3200" dirty="0"/>
              <a:t>Accessibility can also be included in your prompt.</a:t>
            </a:r>
          </a:p>
          <a:p>
            <a:r>
              <a:rPr lang="en-US" sz="3200" dirty="0"/>
              <a:t>Example:</a:t>
            </a:r>
          </a:p>
          <a:p>
            <a:r>
              <a:rPr lang="en-US" sz="3200" dirty="0"/>
              <a:t>Follow basic web accessibility best practices.</a:t>
            </a:r>
          </a:p>
          <a:p>
            <a:r>
              <a:rPr lang="en-US" sz="3200" dirty="0"/>
              <a:t> </a:t>
            </a:r>
          </a:p>
          <a:p>
            <a:r>
              <a:rPr lang="en-US" sz="3200" dirty="0"/>
              <a:t>Requirements:</a:t>
            </a:r>
          </a:p>
          <a:p>
            <a:r>
              <a:rPr lang="en-US" sz="3200" dirty="0"/>
              <a:t>- Use semantic HTML</a:t>
            </a:r>
          </a:p>
          <a:p>
            <a:r>
              <a:rPr lang="en-US" sz="3200" dirty="0"/>
              <a:t>- Add alt text to images</a:t>
            </a:r>
          </a:p>
          <a:p>
            <a:r>
              <a:rPr lang="en-US" sz="3200" dirty="0"/>
              <a:t>- Use labels for form inputs</a:t>
            </a:r>
          </a:p>
          <a:p>
            <a:r>
              <a:rPr lang="en-US" sz="3200" dirty="0"/>
              <a:t>- Ensure buttons are keyboard accessible</a:t>
            </a:r>
          </a:p>
          <a:p>
            <a:r>
              <a:rPr lang="en-US" sz="3200" dirty="0"/>
              <a:t>- Maintain sufficient color contrast</a:t>
            </a:r>
          </a:p>
          <a:p>
            <a:r>
              <a:rPr lang="en-US" sz="3200" dirty="0"/>
              <a:t>- Use meaningful link text</a:t>
            </a:r>
          </a:p>
          <a:p>
            <a:r>
              <a:rPr lang="en-US" sz="3200" dirty="0"/>
              <a:t>This encourages AI to produce more accessible websites.</a:t>
            </a:r>
          </a:p>
        </p:txBody>
      </p:sp>
    </p:spTree>
    <p:extLst>
      <p:ext uri="{BB962C8B-B14F-4D97-AF65-F5344CB8AC3E}">
        <p14:creationId xmlns:p14="http://schemas.microsoft.com/office/powerpoint/2010/main" val="42599614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4538771" y="-249641"/>
            <a:ext cx="10786283" cy="10786283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2545393" y="1028700"/>
            <a:ext cx="3833305" cy="8229600"/>
            <a:chOff x="0" y="0"/>
            <a:chExt cx="593879" cy="127498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593879" cy="1274980"/>
            </a:xfrm>
            <a:custGeom>
              <a:avLst/>
              <a:gdLst/>
              <a:ahLst/>
              <a:cxnLst/>
              <a:rect l="l" t="t" r="r" b="b"/>
              <a:pathLst>
                <a:path w="593879" h="1274980">
                  <a:moveTo>
                    <a:pt x="201965" y="0"/>
                  </a:moveTo>
                  <a:lnTo>
                    <a:pt x="391915" y="0"/>
                  </a:lnTo>
                  <a:cubicBezTo>
                    <a:pt x="503457" y="0"/>
                    <a:pt x="593879" y="90423"/>
                    <a:pt x="593879" y="201965"/>
                  </a:cubicBezTo>
                  <a:lnTo>
                    <a:pt x="593879" y="1073016"/>
                  </a:lnTo>
                  <a:cubicBezTo>
                    <a:pt x="593879" y="1126580"/>
                    <a:pt x="572601" y="1177951"/>
                    <a:pt x="534725" y="1215826"/>
                  </a:cubicBezTo>
                  <a:cubicBezTo>
                    <a:pt x="496850" y="1253702"/>
                    <a:pt x="445479" y="1274980"/>
                    <a:pt x="391915" y="1274980"/>
                  </a:cubicBezTo>
                  <a:lnTo>
                    <a:pt x="201965" y="1274980"/>
                  </a:lnTo>
                  <a:cubicBezTo>
                    <a:pt x="90423" y="1274980"/>
                    <a:pt x="0" y="1184558"/>
                    <a:pt x="0" y="1073016"/>
                  </a:cubicBezTo>
                  <a:lnTo>
                    <a:pt x="0" y="201965"/>
                  </a:lnTo>
                  <a:cubicBezTo>
                    <a:pt x="0" y="90423"/>
                    <a:pt x="90423" y="0"/>
                    <a:pt x="201965" y="0"/>
                  </a:cubicBezTo>
                  <a:close/>
                </a:path>
              </a:pathLst>
            </a:custGeom>
            <a:blipFill>
              <a:blip r:embed="rId2"/>
              <a:stretch>
                <a:fillRect l="-21627" r="-21627"/>
              </a:stretch>
            </a:blipFill>
          </p:spPr>
        </p:sp>
      </p:grpSp>
      <p:sp>
        <p:nvSpPr>
          <p:cNvPr id="7" name="Freeform 7"/>
          <p:cNvSpPr/>
          <p:nvPr/>
        </p:nvSpPr>
        <p:spPr>
          <a:xfrm rot="-1368171">
            <a:off x="8138760" y="3002675"/>
            <a:ext cx="8325708" cy="7947266"/>
          </a:xfrm>
          <a:custGeom>
            <a:avLst/>
            <a:gdLst/>
            <a:ahLst/>
            <a:cxnLst/>
            <a:rect l="l" t="t" r="r" b="b"/>
            <a:pathLst>
              <a:path w="8325708" h="7947266">
                <a:moveTo>
                  <a:pt x="0" y="0"/>
                </a:moveTo>
                <a:lnTo>
                  <a:pt x="8325708" y="0"/>
                </a:lnTo>
                <a:lnTo>
                  <a:pt x="8325708" y="7947267"/>
                </a:lnTo>
                <a:lnTo>
                  <a:pt x="0" y="794726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8999"/>
              <a:extLst>
                <a:ext uri="{96DAC541-7B7A-43D3-8B79-37D633B846F1}">
                  <asvg:svgBlip xmlns=""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17354291" y="-499283"/>
            <a:ext cx="10786283" cy="10786283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 rot="5400000">
            <a:off x="-4080554" y="3955733"/>
            <a:ext cx="10536641" cy="2375534"/>
          </a:xfrm>
          <a:custGeom>
            <a:avLst/>
            <a:gdLst/>
            <a:ahLst/>
            <a:cxnLst/>
            <a:rect l="l" t="t" r="r" b="b"/>
            <a:pathLst>
              <a:path w="10536641" h="2375534">
                <a:moveTo>
                  <a:pt x="0" y="0"/>
                </a:moveTo>
                <a:lnTo>
                  <a:pt x="10536642" y="0"/>
                </a:lnTo>
                <a:lnTo>
                  <a:pt x="10536642" y="2375534"/>
                </a:lnTo>
                <a:lnTo>
                  <a:pt x="0" y="237553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7354291" y="4480324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=""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6597773" y="1179427"/>
            <a:ext cx="10537443" cy="8686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605"/>
              </a:lnSpc>
            </a:pPr>
            <a:r>
              <a:rPr lang="en-US" sz="6600" b="1" dirty="0"/>
              <a:t>Specifying SEO Requirements</a:t>
            </a:r>
            <a:endParaRPr lang="en-US" sz="606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7873865" y="2324100"/>
            <a:ext cx="9261351" cy="54168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3200" dirty="0"/>
              <a:t>You can ask AI to consider SEO.</a:t>
            </a:r>
          </a:p>
          <a:p>
            <a:r>
              <a:rPr lang="en-US" sz="3200" dirty="0"/>
              <a:t>Example:</a:t>
            </a:r>
          </a:p>
          <a:p>
            <a:r>
              <a:rPr lang="en-US" sz="3200" dirty="0"/>
              <a:t>Optimize the page structure for SEO.</a:t>
            </a:r>
          </a:p>
          <a:p>
            <a:r>
              <a:rPr lang="en-US" sz="3200" dirty="0"/>
              <a:t> </a:t>
            </a:r>
          </a:p>
          <a:p>
            <a:r>
              <a:rPr lang="en-US" sz="3200" dirty="0"/>
              <a:t>Requirements:</a:t>
            </a:r>
          </a:p>
          <a:p>
            <a:r>
              <a:rPr lang="en-US" sz="3200" dirty="0"/>
              <a:t>- Use one H1</a:t>
            </a:r>
          </a:p>
          <a:p>
            <a:r>
              <a:rPr lang="en-US" sz="3200" dirty="0"/>
              <a:t>- Use logical H2 and H3 headings</a:t>
            </a:r>
          </a:p>
          <a:p>
            <a:r>
              <a:rPr lang="en-US" sz="3200" dirty="0"/>
              <a:t>- Add a descriptive title</a:t>
            </a:r>
          </a:p>
          <a:p>
            <a:r>
              <a:rPr lang="en-US" sz="3200" dirty="0"/>
              <a:t>- Add a meta description</a:t>
            </a:r>
          </a:p>
          <a:p>
            <a:r>
              <a:rPr lang="en-US" sz="3200" dirty="0"/>
              <a:t>- Use semantic HTML</a:t>
            </a:r>
          </a:p>
          <a:p>
            <a:r>
              <a:rPr lang="en-US" sz="3200" dirty="0"/>
              <a:t>- Add descriptive alt text</a:t>
            </a:r>
          </a:p>
        </p:txBody>
      </p:sp>
    </p:spTree>
    <p:extLst>
      <p:ext uri="{BB962C8B-B14F-4D97-AF65-F5344CB8AC3E}">
        <p14:creationId xmlns:p14="http://schemas.microsoft.com/office/powerpoint/2010/main" val="9033460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3701559" y="5143500"/>
            <a:ext cx="9460517" cy="9460517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3557741" y="-7145674"/>
            <a:ext cx="9460517" cy="9460517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0397" y="571500"/>
            <a:ext cx="5538403" cy="5538403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2"/>
              <a:stretch>
                <a:fillRect t="-37518" b="-12345"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2667000" y="4174187"/>
            <a:ext cx="3560113" cy="3560113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tretch>
                <a:fillRect l="-48225" r="-1587"/>
              </a:stretch>
            </a:blipFill>
          </p:spPr>
        </p:sp>
      </p:grpSp>
      <p:sp>
        <p:nvSpPr>
          <p:cNvPr id="12" name="Freeform 12"/>
          <p:cNvSpPr/>
          <p:nvPr/>
        </p:nvSpPr>
        <p:spPr>
          <a:xfrm rot="-1368171">
            <a:off x="9756386" y="3847826"/>
            <a:ext cx="8325708" cy="7947266"/>
          </a:xfrm>
          <a:custGeom>
            <a:avLst/>
            <a:gdLst/>
            <a:ahLst/>
            <a:cxnLst/>
            <a:rect l="l" t="t" r="r" b="b"/>
            <a:pathLst>
              <a:path w="8325708" h="7947266">
                <a:moveTo>
                  <a:pt x="0" y="0"/>
                </a:moveTo>
                <a:lnTo>
                  <a:pt x="8325708" y="0"/>
                </a:lnTo>
                <a:lnTo>
                  <a:pt x="8325708" y="7947266"/>
                </a:lnTo>
                <a:lnTo>
                  <a:pt x="0" y="794726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8999"/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6181485" y="-1450422"/>
            <a:ext cx="5224933" cy="4635940"/>
          </a:xfrm>
          <a:custGeom>
            <a:avLst/>
            <a:gdLst/>
            <a:ahLst/>
            <a:cxnLst/>
            <a:rect l="l" t="t" r="r" b="b"/>
            <a:pathLst>
              <a:path w="5224933" h="4635940">
                <a:moveTo>
                  <a:pt x="0" y="0"/>
                </a:moveTo>
                <a:lnTo>
                  <a:pt x="5224932" y="0"/>
                </a:lnTo>
                <a:lnTo>
                  <a:pt x="5224932" y="4635940"/>
                </a:lnTo>
                <a:lnTo>
                  <a:pt x="0" y="463594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55000"/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-3391895" y="3185518"/>
            <a:ext cx="5224933" cy="4635940"/>
          </a:xfrm>
          <a:custGeom>
            <a:avLst/>
            <a:gdLst/>
            <a:ahLst/>
            <a:cxnLst/>
            <a:rect l="l" t="t" r="r" b="b"/>
            <a:pathLst>
              <a:path w="5224933" h="4635940">
                <a:moveTo>
                  <a:pt x="0" y="0"/>
                </a:moveTo>
                <a:lnTo>
                  <a:pt x="5224933" y="0"/>
                </a:lnTo>
                <a:lnTo>
                  <a:pt x="5224933" y="4635941"/>
                </a:lnTo>
                <a:lnTo>
                  <a:pt x="0" y="463594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56000"/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-1475474" y="8294851"/>
            <a:ext cx="7610227" cy="6752346"/>
          </a:xfrm>
          <a:custGeom>
            <a:avLst/>
            <a:gdLst/>
            <a:ahLst/>
            <a:cxnLst/>
            <a:rect l="l" t="t" r="r" b="b"/>
            <a:pathLst>
              <a:path w="7610227" h="6752346">
                <a:moveTo>
                  <a:pt x="0" y="0"/>
                </a:moveTo>
                <a:lnTo>
                  <a:pt x="7610226" y="0"/>
                </a:lnTo>
                <a:lnTo>
                  <a:pt x="7610226" y="6752347"/>
                </a:lnTo>
                <a:lnTo>
                  <a:pt x="0" y="675234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6" name="TextBox 16"/>
          <p:cNvSpPr txBox="1"/>
          <p:nvPr/>
        </p:nvSpPr>
        <p:spPr>
          <a:xfrm>
            <a:off x="5758958" y="1959641"/>
            <a:ext cx="12148042" cy="84638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605"/>
              </a:lnSpc>
            </a:pPr>
            <a:r>
              <a:rPr lang="en-US" sz="6000" b="1" dirty="0"/>
              <a:t>Specifying Performance Requirements</a:t>
            </a:r>
            <a:endParaRPr lang="en-US" sz="600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6729329" y="3162300"/>
            <a:ext cx="10245622" cy="54168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3200" dirty="0"/>
              <a:t>You can also tell AI to optimize performance.</a:t>
            </a:r>
          </a:p>
          <a:p>
            <a:r>
              <a:rPr lang="en-US" sz="3200" dirty="0"/>
              <a:t>Example:</a:t>
            </a:r>
          </a:p>
          <a:p>
            <a:r>
              <a:rPr lang="en-US" sz="3200" dirty="0"/>
              <a:t>Optimize the website for performance.</a:t>
            </a:r>
          </a:p>
          <a:p>
            <a:r>
              <a:rPr lang="en-US" sz="3200" dirty="0"/>
              <a:t> </a:t>
            </a:r>
          </a:p>
          <a:p>
            <a:r>
              <a:rPr lang="en-US" sz="3200" dirty="0"/>
              <a:t>Requirements:</a:t>
            </a:r>
          </a:p>
          <a:p>
            <a:r>
              <a:rPr lang="en-US" sz="3200" dirty="0"/>
              <a:t>- Avoid unnecessary JavaScript</a:t>
            </a:r>
          </a:p>
          <a:p>
            <a:r>
              <a:rPr lang="en-US" sz="3200" dirty="0"/>
              <a:t>- Use responsive images</a:t>
            </a:r>
          </a:p>
          <a:p>
            <a:r>
              <a:rPr lang="en-US" sz="3200" dirty="0"/>
              <a:t>- Lazy-load images where appropriate</a:t>
            </a:r>
          </a:p>
          <a:p>
            <a:r>
              <a:rPr lang="en-US" sz="3200" dirty="0"/>
              <a:t>- Avoid excessive animations</a:t>
            </a:r>
          </a:p>
          <a:p>
            <a:r>
              <a:rPr lang="en-US" sz="3200" dirty="0"/>
              <a:t>- Keep CSS organized</a:t>
            </a:r>
          </a:p>
          <a:p>
            <a:r>
              <a:rPr lang="en-US" sz="3200" dirty="0"/>
              <a:t>- Avoid unnecessary external libraries</a:t>
            </a:r>
          </a:p>
        </p:txBody>
      </p:sp>
      <p:sp>
        <p:nvSpPr>
          <p:cNvPr id="20" name="Freeform 20"/>
          <p:cNvSpPr/>
          <p:nvPr/>
        </p:nvSpPr>
        <p:spPr>
          <a:xfrm rot="10165856">
            <a:off x="2662051" y="-2415415"/>
            <a:ext cx="5680119" cy="5039815"/>
          </a:xfrm>
          <a:custGeom>
            <a:avLst/>
            <a:gdLst/>
            <a:ahLst/>
            <a:cxnLst/>
            <a:rect l="l" t="t" r="r" b="b"/>
            <a:pathLst>
              <a:path w="5680119" h="5039815">
                <a:moveTo>
                  <a:pt x="0" y="0"/>
                </a:moveTo>
                <a:lnTo>
                  <a:pt x="5680118" y="0"/>
                </a:lnTo>
                <a:lnTo>
                  <a:pt x="5680118" y="5039814"/>
                </a:lnTo>
                <a:lnTo>
                  <a:pt x="0" y="503981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18999"/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</p:spTree>
    <p:extLst>
      <p:ext uri="{BB962C8B-B14F-4D97-AF65-F5344CB8AC3E}">
        <p14:creationId xmlns:p14="http://schemas.microsoft.com/office/powerpoint/2010/main" val="13680683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3701559" y="5143500"/>
            <a:ext cx="9460517" cy="9460517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3557741" y="-7145674"/>
            <a:ext cx="9460517" cy="9460517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0397" y="571500"/>
            <a:ext cx="5538403" cy="5538403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2"/>
              <a:stretch>
                <a:fillRect t="-37518" b="-12345"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2667000" y="4174187"/>
            <a:ext cx="3560113" cy="3560113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tretch>
                <a:fillRect l="-48225" r="-1587"/>
              </a:stretch>
            </a:blipFill>
          </p:spPr>
        </p:sp>
      </p:grpSp>
      <p:sp>
        <p:nvSpPr>
          <p:cNvPr id="12" name="Freeform 12"/>
          <p:cNvSpPr/>
          <p:nvPr/>
        </p:nvSpPr>
        <p:spPr>
          <a:xfrm rot="-1368171">
            <a:off x="9756386" y="3847826"/>
            <a:ext cx="8325708" cy="7947266"/>
          </a:xfrm>
          <a:custGeom>
            <a:avLst/>
            <a:gdLst/>
            <a:ahLst/>
            <a:cxnLst/>
            <a:rect l="l" t="t" r="r" b="b"/>
            <a:pathLst>
              <a:path w="8325708" h="7947266">
                <a:moveTo>
                  <a:pt x="0" y="0"/>
                </a:moveTo>
                <a:lnTo>
                  <a:pt x="8325708" y="0"/>
                </a:lnTo>
                <a:lnTo>
                  <a:pt x="8325708" y="7947266"/>
                </a:lnTo>
                <a:lnTo>
                  <a:pt x="0" y="794726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8999"/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6181485" y="-1450422"/>
            <a:ext cx="5224933" cy="4635940"/>
          </a:xfrm>
          <a:custGeom>
            <a:avLst/>
            <a:gdLst/>
            <a:ahLst/>
            <a:cxnLst/>
            <a:rect l="l" t="t" r="r" b="b"/>
            <a:pathLst>
              <a:path w="5224933" h="4635940">
                <a:moveTo>
                  <a:pt x="0" y="0"/>
                </a:moveTo>
                <a:lnTo>
                  <a:pt x="5224932" y="0"/>
                </a:lnTo>
                <a:lnTo>
                  <a:pt x="5224932" y="4635940"/>
                </a:lnTo>
                <a:lnTo>
                  <a:pt x="0" y="463594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55000"/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-3391895" y="3185518"/>
            <a:ext cx="5224933" cy="4635940"/>
          </a:xfrm>
          <a:custGeom>
            <a:avLst/>
            <a:gdLst/>
            <a:ahLst/>
            <a:cxnLst/>
            <a:rect l="l" t="t" r="r" b="b"/>
            <a:pathLst>
              <a:path w="5224933" h="4635940">
                <a:moveTo>
                  <a:pt x="0" y="0"/>
                </a:moveTo>
                <a:lnTo>
                  <a:pt x="5224933" y="0"/>
                </a:lnTo>
                <a:lnTo>
                  <a:pt x="5224933" y="4635941"/>
                </a:lnTo>
                <a:lnTo>
                  <a:pt x="0" y="463594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56000"/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-1475474" y="8294851"/>
            <a:ext cx="7610227" cy="6752346"/>
          </a:xfrm>
          <a:custGeom>
            <a:avLst/>
            <a:gdLst/>
            <a:ahLst/>
            <a:cxnLst/>
            <a:rect l="l" t="t" r="r" b="b"/>
            <a:pathLst>
              <a:path w="7610227" h="6752346">
                <a:moveTo>
                  <a:pt x="0" y="0"/>
                </a:moveTo>
                <a:lnTo>
                  <a:pt x="7610226" y="0"/>
                </a:lnTo>
                <a:lnTo>
                  <a:pt x="7610226" y="6752347"/>
                </a:lnTo>
                <a:lnTo>
                  <a:pt x="0" y="675234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6" name="TextBox 16"/>
          <p:cNvSpPr txBox="1"/>
          <p:nvPr/>
        </p:nvSpPr>
        <p:spPr>
          <a:xfrm>
            <a:off x="6929871" y="1249645"/>
            <a:ext cx="10045079" cy="84638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605"/>
              </a:lnSpc>
            </a:pPr>
            <a:r>
              <a:rPr lang="en-US" sz="6600" b="1" dirty="0"/>
              <a:t>Specifying Code Structure</a:t>
            </a:r>
            <a:endParaRPr lang="en-US" sz="606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6729329" y="2324100"/>
            <a:ext cx="10245622" cy="73250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2800" dirty="0"/>
              <a:t>When asking AI to generate code, specify how you want it organized.</a:t>
            </a:r>
          </a:p>
          <a:p>
            <a:r>
              <a:rPr lang="en-US" sz="2800" dirty="0"/>
              <a:t>For example:</a:t>
            </a:r>
          </a:p>
          <a:p>
            <a:r>
              <a:rPr lang="en-US" sz="2800" dirty="0"/>
              <a:t>Separate the project into:</a:t>
            </a:r>
          </a:p>
          <a:p>
            <a:r>
              <a:rPr lang="en-US" sz="2800" dirty="0"/>
              <a:t> </a:t>
            </a:r>
          </a:p>
          <a:p>
            <a:r>
              <a:rPr lang="en-US" sz="2800" dirty="0"/>
              <a:t>index.html</a:t>
            </a:r>
          </a:p>
          <a:p>
            <a:r>
              <a:rPr lang="en-US" sz="2800" dirty="0" err="1"/>
              <a:t>css</a:t>
            </a:r>
            <a:r>
              <a:rPr lang="en-US" sz="2800" dirty="0"/>
              <a:t>/style.css</a:t>
            </a:r>
          </a:p>
          <a:p>
            <a:r>
              <a:rPr lang="en-US" sz="2800" dirty="0" err="1"/>
              <a:t>js</a:t>
            </a:r>
            <a:r>
              <a:rPr lang="en-US" sz="2800" dirty="0"/>
              <a:t>/script.js</a:t>
            </a:r>
          </a:p>
          <a:p>
            <a:r>
              <a:rPr lang="en-US" sz="2800" dirty="0"/>
              <a:t>images/</a:t>
            </a:r>
          </a:p>
          <a:p>
            <a:r>
              <a:rPr lang="en-US" sz="2800" dirty="0"/>
              <a:t>Or:</a:t>
            </a:r>
          </a:p>
          <a:p>
            <a:r>
              <a:rPr lang="en-US" sz="2800" dirty="0"/>
              <a:t>Create separate React components for:</a:t>
            </a:r>
          </a:p>
          <a:p>
            <a:r>
              <a:rPr lang="en-US" sz="2800" dirty="0"/>
              <a:t> </a:t>
            </a:r>
          </a:p>
          <a:p>
            <a:r>
              <a:rPr lang="en-US" sz="2800" dirty="0" err="1"/>
              <a:t>Navbar</a:t>
            </a:r>
            <a:endParaRPr lang="en-US" sz="2800" dirty="0"/>
          </a:p>
          <a:p>
            <a:r>
              <a:rPr lang="en-US" sz="2800" dirty="0"/>
              <a:t>Hero</a:t>
            </a:r>
          </a:p>
          <a:p>
            <a:r>
              <a:rPr lang="en-US" sz="2800" dirty="0"/>
              <a:t>Services</a:t>
            </a:r>
          </a:p>
          <a:p>
            <a:r>
              <a:rPr lang="en-US" sz="2800" dirty="0"/>
              <a:t>Testimonials</a:t>
            </a:r>
          </a:p>
          <a:p>
            <a:r>
              <a:rPr lang="en-US" sz="2800" dirty="0"/>
              <a:t>Footer</a:t>
            </a:r>
          </a:p>
          <a:p>
            <a:r>
              <a:rPr lang="en-US" sz="2800" dirty="0"/>
              <a:t>This makes the generated project easier to maintain.</a:t>
            </a:r>
          </a:p>
        </p:txBody>
      </p:sp>
      <p:sp>
        <p:nvSpPr>
          <p:cNvPr id="20" name="Freeform 20"/>
          <p:cNvSpPr/>
          <p:nvPr/>
        </p:nvSpPr>
        <p:spPr>
          <a:xfrm rot="10165856">
            <a:off x="2662051" y="-2415415"/>
            <a:ext cx="5680119" cy="5039815"/>
          </a:xfrm>
          <a:custGeom>
            <a:avLst/>
            <a:gdLst/>
            <a:ahLst/>
            <a:cxnLst/>
            <a:rect l="l" t="t" r="r" b="b"/>
            <a:pathLst>
              <a:path w="5680119" h="5039815">
                <a:moveTo>
                  <a:pt x="0" y="0"/>
                </a:moveTo>
                <a:lnTo>
                  <a:pt x="5680118" y="0"/>
                </a:lnTo>
                <a:lnTo>
                  <a:pt x="5680118" y="5039814"/>
                </a:lnTo>
                <a:lnTo>
                  <a:pt x="0" y="503981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18999"/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</p:spTree>
    <p:extLst>
      <p:ext uri="{BB962C8B-B14F-4D97-AF65-F5344CB8AC3E}">
        <p14:creationId xmlns:p14="http://schemas.microsoft.com/office/powerpoint/2010/main" val="17870842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3768924" y="6735187"/>
            <a:ext cx="9460517" cy="9460517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377858" y="7663815"/>
            <a:ext cx="5246370" cy="5246370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2"/>
              <a:stretch>
                <a:fillRect t="-42503" b="-7309"/>
              </a:stretch>
            </a:blipFill>
          </p:spPr>
        </p:sp>
      </p:grpSp>
      <p:sp>
        <p:nvSpPr>
          <p:cNvPr id="7" name="Freeform 7"/>
          <p:cNvSpPr/>
          <p:nvPr/>
        </p:nvSpPr>
        <p:spPr>
          <a:xfrm rot="-1368171">
            <a:off x="8036856" y="3362764"/>
            <a:ext cx="8325708" cy="7947266"/>
          </a:xfrm>
          <a:custGeom>
            <a:avLst/>
            <a:gdLst/>
            <a:ahLst/>
            <a:cxnLst/>
            <a:rect l="l" t="t" r="r" b="b"/>
            <a:pathLst>
              <a:path w="8325708" h="7947266">
                <a:moveTo>
                  <a:pt x="0" y="0"/>
                </a:moveTo>
                <a:lnTo>
                  <a:pt x="8325708" y="0"/>
                </a:lnTo>
                <a:lnTo>
                  <a:pt x="8325708" y="7947266"/>
                </a:lnTo>
                <a:lnTo>
                  <a:pt x="0" y="794726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7999"/>
              <a:extLst>
                <a:ext uri="{96DAC541-7B7A-43D3-8B79-37D633B846F1}">
                  <asvg:svgBlip xmlns=""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12596407" y="-5908704"/>
            <a:ext cx="9460517" cy="9460517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2663772" y="-2623185"/>
            <a:ext cx="5246370" cy="5246370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5"/>
              <a:stretch>
                <a:fillRect b="-49719"/>
              </a:stretch>
            </a:blipFill>
          </p:spPr>
        </p:sp>
      </p:grpSp>
      <p:sp>
        <p:nvSpPr>
          <p:cNvPr id="13" name="Freeform 13"/>
          <p:cNvSpPr/>
          <p:nvPr/>
        </p:nvSpPr>
        <p:spPr>
          <a:xfrm>
            <a:off x="16978565" y="-830978"/>
            <a:ext cx="6435168" cy="5709749"/>
          </a:xfrm>
          <a:custGeom>
            <a:avLst/>
            <a:gdLst/>
            <a:ahLst/>
            <a:cxnLst/>
            <a:rect l="l" t="t" r="r" b="b"/>
            <a:pathLst>
              <a:path w="6435168" h="5709749">
                <a:moveTo>
                  <a:pt x="0" y="0"/>
                </a:moveTo>
                <a:lnTo>
                  <a:pt x="6435169" y="0"/>
                </a:lnTo>
                <a:lnTo>
                  <a:pt x="6435169" y="5709749"/>
                </a:lnTo>
                <a:lnTo>
                  <a:pt x="0" y="570974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-5252387" y="5143500"/>
            <a:ext cx="6435168" cy="5709749"/>
          </a:xfrm>
          <a:custGeom>
            <a:avLst/>
            <a:gdLst/>
            <a:ahLst/>
            <a:cxnLst/>
            <a:rect l="l" t="t" r="r" b="b"/>
            <a:pathLst>
              <a:path w="6435168" h="5709749">
                <a:moveTo>
                  <a:pt x="0" y="0"/>
                </a:moveTo>
                <a:lnTo>
                  <a:pt x="6435168" y="0"/>
                </a:lnTo>
                <a:lnTo>
                  <a:pt x="6435168" y="5709749"/>
                </a:lnTo>
                <a:lnTo>
                  <a:pt x="0" y="570974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5987464" y="1179427"/>
            <a:ext cx="6313072" cy="17150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605"/>
              </a:lnSpc>
            </a:pPr>
            <a:r>
              <a:rPr lang="en-US" sz="6600" b="1" dirty="0"/>
              <a:t>Specifying Output Format</a:t>
            </a:r>
            <a:endParaRPr lang="en-US" sz="6060" b="1" dirty="0">
              <a:solidFill>
                <a:srgbClr val="051D40"/>
              </a:solidFill>
              <a:latin typeface="Poppins Bold" panose="00000800000000000000"/>
              <a:ea typeface="Poppins Bold" panose="00000800000000000000"/>
              <a:cs typeface="Poppins Bold" panose="00000800000000000000"/>
              <a:sym typeface="Poppins Bold" panose="00000800000000000000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2799284" y="3514608"/>
            <a:ext cx="12689432" cy="47397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2800" dirty="0"/>
              <a:t>AI needs to know how you want the result presented.</a:t>
            </a:r>
          </a:p>
          <a:p>
            <a:r>
              <a:rPr lang="en-US" sz="2800" dirty="0"/>
              <a:t>For example:</a:t>
            </a:r>
          </a:p>
          <a:p>
            <a:r>
              <a:rPr lang="en-US" sz="2800" dirty="0"/>
              <a:t>Return the result as:</a:t>
            </a:r>
          </a:p>
          <a:p>
            <a:r>
              <a:rPr lang="en-US" sz="2800" dirty="0"/>
              <a:t> </a:t>
            </a:r>
          </a:p>
          <a:p>
            <a:r>
              <a:rPr lang="en-US" sz="2800" dirty="0"/>
              <a:t>1. HTML</a:t>
            </a:r>
          </a:p>
          <a:p>
            <a:r>
              <a:rPr lang="en-US" sz="2800" dirty="0"/>
              <a:t>2. CSS</a:t>
            </a:r>
          </a:p>
          <a:p>
            <a:r>
              <a:rPr lang="en-US" sz="2800" dirty="0"/>
              <a:t>3. JavaScript</a:t>
            </a:r>
          </a:p>
          <a:p>
            <a:r>
              <a:rPr lang="en-US" sz="2800" dirty="0"/>
              <a:t>Or:</a:t>
            </a:r>
          </a:p>
          <a:p>
            <a:r>
              <a:rPr lang="en-US" sz="2800" dirty="0"/>
              <a:t>Provide each file separately using code blocks.</a:t>
            </a:r>
          </a:p>
          <a:p>
            <a:r>
              <a:rPr lang="en-US" sz="2800" dirty="0"/>
              <a:t>Or:</a:t>
            </a:r>
          </a:p>
          <a:p>
            <a:r>
              <a:rPr lang="en-US" sz="2800" dirty="0"/>
              <a:t>Explain the code first, then provide the complete code.</a:t>
            </a:r>
          </a:p>
        </p:txBody>
      </p:sp>
    </p:spTree>
    <p:extLst>
      <p:ext uri="{BB962C8B-B14F-4D97-AF65-F5344CB8AC3E}">
        <p14:creationId xmlns:p14="http://schemas.microsoft.com/office/powerpoint/2010/main" val="251867230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368171">
            <a:off x="2537321" y="2532154"/>
            <a:ext cx="8325708" cy="7947266"/>
          </a:xfrm>
          <a:custGeom>
            <a:avLst/>
            <a:gdLst/>
            <a:ahLst/>
            <a:cxnLst/>
            <a:rect l="l" t="t" r="r" b="b"/>
            <a:pathLst>
              <a:path w="8325708" h="7947266">
                <a:moveTo>
                  <a:pt x="0" y="0"/>
                </a:moveTo>
                <a:lnTo>
                  <a:pt x="8325707" y="0"/>
                </a:lnTo>
                <a:lnTo>
                  <a:pt x="8325707" y="7947267"/>
                </a:lnTo>
                <a:lnTo>
                  <a:pt x="0" y="79472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8999"/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2077703" y="3366867"/>
            <a:ext cx="9460517" cy="9460517"/>
            <a:chOff x="0" y="0"/>
            <a:chExt cx="812800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9168318" y="-2824047"/>
            <a:ext cx="3852747" cy="3852747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16851686" y="2858315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0349506" y="-3086100"/>
            <a:ext cx="4637582" cy="4114800"/>
          </a:xfrm>
          <a:custGeom>
            <a:avLst/>
            <a:gdLst/>
            <a:ahLst/>
            <a:cxnLst/>
            <a:rect l="l" t="t" r="r" b="b"/>
            <a:pathLst>
              <a:path w="4637582" h="4114800">
                <a:moveTo>
                  <a:pt x="0" y="0"/>
                </a:moveTo>
                <a:lnTo>
                  <a:pt x="4637582" y="0"/>
                </a:lnTo>
                <a:lnTo>
                  <a:pt x="463758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11" name="Group 11"/>
          <p:cNvGrpSpPr/>
          <p:nvPr/>
        </p:nvGrpSpPr>
        <p:grpSpPr>
          <a:xfrm>
            <a:off x="-1292181" y="-648104"/>
            <a:ext cx="5791604" cy="5791604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2682247" y="3376392"/>
            <a:ext cx="7052696" cy="41253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545"/>
              </a:lnSpc>
            </a:pPr>
            <a:r>
              <a:rPr lang="en-US" sz="14260" b="1">
                <a:solidFill>
                  <a:srgbClr val="051D40"/>
                </a:solidFill>
                <a:latin typeface="Poppins Bold" panose="00000800000000000000"/>
                <a:ea typeface="Poppins Bold" panose="00000800000000000000"/>
                <a:cs typeface="Poppins Bold" panose="00000800000000000000"/>
                <a:sym typeface="Poppins Bold" panose="00000800000000000000"/>
              </a:rPr>
              <a:t>THANK YOU</a:t>
            </a:r>
          </a:p>
        </p:txBody>
      </p:sp>
      <p:sp>
        <p:nvSpPr>
          <p:cNvPr id="15" name="Freeform 15"/>
          <p:cNvSpPr/>
          <p:nvPr/>
        </p:nvSpPr>
        <p:spPr>
          <a:xfrm>
            <a:off x="-3031172" y="2417472"/>
            <a:ext cx="5134435" cy="4555644"/>
          </a:xfrm>
          <a:custGeom>
            <a:avLst/>
            <a:gdLst/>
            <a:ahLst/>
            <a:cxnLst/>
            <a:rect l="l" t="t" r="r" b="b"/>
            <a:pathLst>
              <a:path w="5134435" h="4555644">
                <a:moveTo>
                  <a:pt x="0" y="0"/>
                </a:moveTo>
                <a:lnTo>
                  <a:pt x="5134434" y="0"/>
                </a:lnTo>
                <a:lnTo>
                  <a:pt x="5134434" y="4555643"/>
                </a:lnTo>
                <a:lnTo>
                  <a:pt x="0" y="455564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271</TotalTime>
  <Words>1535</Words>
  <Application>Microsoft Office PowerPoint</Application>
  <PresentationFormat>Custom</PresentationFormat>
  <Paragraphs>434</Paragraphs>
  <Slides>33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8" baseType="lpstr">
      <vt:lpstr>Calibri</vt:lpstr>
      <vt:lpstr>Poppins</vt:lpstr>
      <vt:lpstr>Poppins Bold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Blue Modern Minimalist Website Development Project Presentation</dc:title>
  <dc:creator/>
  <cp:lastModifiedBy>USER</cp:lastModifiedBy>
  <cp:revision>25</cp:revision>
  <dcterms:created xsi:type="dcterms:W3CDTF">2006-08-16T00:00:00Z</dcterms:created>
  <dcterms:modified xsi:type="dcterms:W3CDTF">2026-08-19T08:52:49Z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1033-12.1.0.28032</vt:lpwstr>
  </property>
  <property fmtid="{D5CDD505-2E9C-101B-9397-08002B2CF9AE}" pid="3" name="ICV">
    <vt:lpwstr>6650FB3C1DA74534B1503C7696D3FB20_13</vt:lpwstr>
  </property>
</Properties>
</file>