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7" r:id="rId4"/>
    <p:sldId id="258" r:id="rId5"/>
    <p:sldId id="268" r:id="rId6"/>
    <p:sldId id="260" r:id="rId7"/>
    <p:sldId id="261" r:id="rId8"/>
    <p:sldId id="291" r:id="rId9"/>
    <p:sldId id="269" r:id="rId10"/>
    <p:sldId id="263" r:id="rId11"/>
    <p:sldId id="270" r:id="rId12"/>
    <p:sldId id="271" r:id="rId13"/>
    <p:sldId id="264" r:id="rId14"/>
    <p:sldId id="272" r:id="rId15"/>
    <p:sldId id="265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66" r:id="rId35"/>
  </p:sldIdLst>
  <p:sldSz cx="18288000" cy="10287000"/>
  <p:notesSz cx="6858000" cy="9144000"/>
  <p:embeddedFontLst>
    <p:embeddedFont>
      <p:font typeface="Calibri" panose="020F0502020204030204" pitchFamily="34" charset="0"/>
      <p:regular r:id="rId36"/>
      <p:bold r:id="rId37"/>
      <p:italic r:id="rId38"/>
      <p:boldItalic r:id="rId39"/>
    </p:embeddedFont>
    <p:embeddedFont>
      <p:font typeface="Poppins Bold" panose="020B0604020202020204" charset="0"/>
      <p:regular r:id="rId40"/>
      <p:bold r:id="rId41"/>
    </p:embeddedFont>
    <p:embeddedFont>
      <p:font typeface="Poppins" panose="020B0604020202020204" charset="0"/>
      <p:regular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5" autoAdjust="0"/>
    <p:restoredTop sz="94622" autoAdjust="0"/>
  </p:normalViewPr>
  <p:slideViewPr>
    <p:cSldViewPr>
      <p:cViewPr varScale="1">
        <p:scale>
          <a:sx n="43" d="100"/>
          <a:sy n="43" d="100"/>
        </p:scale>
        <p:origin x="576" y="-14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jpe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7.jpe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jpeg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7.jpeg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jpeg"/><Relationship Id="rId4" Type="http://schemas.openxmlformats.org/officeDocument/2006/relationships/image" Target="../media/image2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71249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72000" y="5143500"/>
            <a:ext cx="7344135" cy="755647"/>
            <a:chOff x="0" y="0"/>
            <a:chExt cx="1511139" cy="15548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11139" cy="155483"/>
            </a:xfrm>
            <a:custGeom>
              <a:avLst/>
              <a:gdLst/>
              <a:ahLst/>
              <a:cxnLst/>
              <a:rect l="l" t="t" r="r" b="b"/>
              <a:pathLst>
                <a:path w="1511139" h="155483">
                  <a:moveTo>
                    <a:pt x="77742" y="0"/>
                  </a:moveTo>
                  <a:lnTo>
                    <a:pt x="1433397" y="0"/>
                  </a:lnTo>
                  <a:cubicBezTo>
                    <a:pt x="1454016" y="0"/>
                    <a:pt x="1473789" y="8191"/>
                    <a:pt x="1488369" y="22770"/>
                  </a:cubicBezTo>
                  <a:cubicBezTo>
                    <a:pt x="1502948" y="37349"/>
                    <a:pt x="1511139" y="57123"/>
                    <a:pt x="1511139" y="77742"/>
                  </a:cubicBezTo>
                  <a:lnTo>
                    <a:pt x="1511139" y="77742"/>
                  </a:lnTo>
                  <a:cubicBezTo>
                    <a:pt x="1511139" y="120677"/>
                    <a:pt x="1476333" y="155483"/>
                    <a:pt x="1433397" y="155483"/>
                  </a:cubicBezTo>
                  <a:lnTo>
                    <a:pt x="77742" y="155483"/>
                  </a:lnTo>
                  <a:cubicBezTo>
                    <a:pt x="57123" y="155483"/>
                    <a:pt x="37349" y="147292"/>
                    <a:pt x="22770" y="132713"/>
                  </a:cubicBezTo>
                  <a:cubicBezTo>
                    <a:pt x="8191" y="118134"/>
                    <a:pt x="0" y="98360"/>
                    <a:pt x="0" y="77742"/>
                  </a:cubicBezTo>
                  <a:lnTo>
                    <a:pt x="0" y="77742"/>
                  </a:lnTo>
                  <a:cubicBezTo>
                    <a:pt x="0" y="57123"/>
                    <a:pt x="8191" y="37349"/>
                    <a:pt x="22770" y="22770"/>
                  </a:cubicBezTo>
                  <a:cubicBezTo>
                    <a:pt x="37349" y="8191"/>
                    <a:pt x="57123" y="0"/>
                    <a:pt x="77742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511139" cy="193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854213" y="-1661893"/>
            <a:ext cx="9460517" cy="946051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155667" y="2125663"/>
            <a:ext cx="6791321" cy="679132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7517" r="-55815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-844289" y="8822784"/>
            <a:ext cx="7425704" cy="742570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728668" y="-2824047"/>
            <a:ext cx="3852747" cy="3852747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5628197" y="-2170445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372000" y="86774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3909856" y="-30861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540697" y="5058263"/>
            <a:ext cx="7006741" cy="792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30"/>
              </a:lnSpc>
            </a:pPr>
            <a:r>
              <a:rPr lang="en-US" sz="4375" b="1">
                <a:solidFill>
                  <a:srgbClr val="F4F6FC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PROJECT PRESENTATION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72000" y="2682232"/>
            <a:ext cx="7642805" cy="2273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65"/>
              </a:lnSpc>
            </a:pPr>
            <a:r>
              <a:rPr lang="en-US" sz="8130" b="1" dirty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AI WEBSITE DESIGN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0553275" y="1179427"/>
            <a:ext cx="6581941" cy="852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60" b="1" dirty="0" smtClean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INTRODUCTION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3485676"/>
            <a:ext cx="9261351" cy="7181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Prompt Engineering for Web Design is the process of creating clear, structured, and effective instructions that guide an Artificial Intelligence (AI) system to produce useful web design results.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AI tools can help a web designer: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HTML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CSS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JavaScript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Create website layouts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Design user interfaces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website content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Create images and </a:t>
            </a:r>
            <a:r>
              <a:rPr lang="en-US" altLang="en-US" sz="2495" dirty="0" smtClean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graphics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Improve existing designs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Make websites responsive</a:t>
            </a:r>
          </a:p>
          <a:p>
            <a:pPr>
              <a:lnSpc>
                <a:spcPts val="3495"/>
              </a:lnSpc>
            </a:pPr>
            <a:endParaRPr lang="en-US" altLang="en-US" sz="2495" dirty="0">
              <a:solidFill>
                <a:srgbClr val="051D40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  <a:p>
            <a:pPr>
              <a:lnSpc>
                <a:spcPts val="3495"/>
              </a:lnSpc>
            </a:pPr>
            <a:endParaRPr lang="en-US" altLang="en-US" sz="2495" dirty="0">
              <a:solidFill>
                <a:srgbClr val="051D40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0553275" y="1179427"/>
            <a:ext cx="6581941" cy="852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60" b="1" dirty="0" smtClean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INTRODUCTION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3485676"/>
            <a:ext cx="9261351" cy="626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5"/>
              </a:lnSpc>
            </a:pPr>
            <a:r>
              <a:rPr lang="en-US" altLang="en-US" sz="2495" dirty="0" smtClean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</a:t>
            </a: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	Debug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Explain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database structures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API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Improve SEO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Test website usability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Convert ideas into complete website prototypes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However, the quality of the result depends heavily on the quality of the instructions given to the AI.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This leads to an important principle: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Better prompts generally produce better and more controllable results.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Prompt engineering therefore becomes an important skill for modern web designers.</a:t>
            </a:r>
          </a:p>
        </p:txBody>
      </p:sp>
    </p:spTree>
    <p:extLst>
      <p:ext uri="{BB962C8B-B14F-4D97-AF65-F5344CB8AC3E}">
        <p14:creationId xmlns:p14="http://schemas.microsoft.com/office/powerpoint/2010/main" val="1408349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0863530" y="1959641"/>
            <a:ext cx="6111420" cy="86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00" b="1" dirty="0"/>
              <a:t>What Is a Prompt</a:t>
            </a:r>
            <a:endParaRPr lang="en-US" sz="600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4085004"/>
            <a:ext cx="10245622" cy="4739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prompt</a:t>
            </a:r>
            <a:r>
              <a:rPr lang="en-US" sz="2800" dirty="0"/>
              <a:t> is an instruction, question, command, or description given to an AI system to produce a desired result.</a:t>
            </a:r>
          </a:p>
          <a:p>
            <a:r>
              <a:rPr lang="en-US" sz="2800" dirty="0"/>
              <a:t>For example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 smtClean="0"/>
              <a:t>“Create </a:t>
            </a:r>
            <a:r>
              <a:rPr lang="en-US" sz="2800" dirty="0"/>
              <a:t>a website for a restaurant</a:t>
            </a:r>
            <a:r>
              <a:rPr lang="en-US" sz="2800" dirty="0" smtClean="0"/>
              <a:t>.”</a:t>
            </a:r>
            <a:endParaRPr lang="en-US" sz="2800" dirty="0"/>
          </a:p>
          <a:p>
            <a:r>
              <a:rPr lang="en-US" sz="2800" dirty="0"/>
              <a:t>This is a prompt, but it is very general</a:t>
            </a:r>
            <a:r>
              <a:rPr lang="en-US" sz="2800" dirty="0" smtClean="0"/>
              <a:t>.</a:t>
            </a:r>
          </a:p>
          <a:p>
            <a:endParaRPr lang="en-US" sz="2800" dirty="0"/>
          </a:p>
          <a:p>
            <a:r>
              <a:rPr lang="en-US" sz="2800" dirty="0"/>
              <a:t>A more detailed prompt could be</a:t>
            </a:r>
            <a:r>
              <a:rPr lang="en-US" sz="2800" dirty="0" smtClean="0"/>
              <a:t>:</a:t>
            </a:r>
            <a:endParaRPr lang="en-US" sz="2800" dirty="0"/>
          </a:p>
          <a:p>
            <a:r>
              <a:rPr lang="en-US" sz="2800" dirty="0" smtClean="0"/>
              <a:t>“Create </a:t>
            </a:r>
            <a:r>
              <a:rPr lang="en-US" sz="2800" dirty="0"/>
              <a:t>a modern responsive restaurant website using HTML5,</a:t>
            </a:r>
          </a:p>
          <a:p>
            <a:r>
              <a:rPr lang="en-US" sz="2800" dirty="0"/>
              <a:t>CSS3 and Bootstrap </a:t>
            </a:r>
            <a:r>
              <a:rPr lang="en-US" sz="2800"/>
              <a:t>5</a:t>
            </a:r>
            <a:r>
              <a:rPr lang="en-US" sz="2800" smtClean="0"/>
              <a:t>.”</a:t>
            </a:r>
            <a:endParaRPr lang="en-US" sz="2800" dirty="0"/>
          </a:p>
          <a:p>
            <a:r>
              <a:rPr lang="en-US" sz="2800" dirty="0"/>
              <a:t> 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9643114" y="1249645"/>
            <a:ext cx="733183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What Is a </a:t>
            </a:r>
            <a:r>
              <a:rPr lang="en-US" sz="6600" b="1" dirty="0" smtClean="0"/>
              <a:t>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2705100"/>
            <a:ext cx="10245622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The website should include:</a:t>
            </a:r>
          </a:p>
          <a:p>
            <a:r>
              <a:rPr lang="en-US" sz="2800" dirty="0"/>
              <a:t>- Responsive navigation bar</a:t>
            </a:r>
          </a:p>
          <a:p>
            <a:r>
              <a:rPr lang="en-US" sz="2800" dirty="0"/>
              <a:t>- Hero section</a:t>
            </a:r>
          </a:p>
          <a:p>
            <a:r>
              <a:rPr lang="en-US" sz="2800" dirty="0"/>
              <a:t>- About section</a:t>
            </a:r>
          </a:p>
          <a:p>
            <a:r>
              <a:rPr lang="en-US" sz="2800" dirty="0"/>
              <a:t>- Menu section</a:t>
            </a:r>
          </a:p>
          <a:p>
            <a:r>
              <a:rPr lang="en-US" sz="2800" dirty="0"/>
              <a:t>- Customer testimonials</a:t>
            </a:r>
          </a:p>
          <a:p>
            <a:r>
              <a:rPr lang="en-US" sz="2800" dirty="0"/>
              <a:t>- Contact form</a:t>
            </a:r>
          </a:p>
          <a:p>
            <a:r>
              <a:rPr lang="en-US" sz="2800" dirty="0"/>
              <a:t>- Google Maps section</a:t>
            </a:r>
          </a:p>
          <a:p>
            <a:r>
              <a:rPr lang="en-US" sz="2800" dirty="0"/>
              <a:t>- Footer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Use a professional restaurant design with warm colors,</a:t>
            </a:r>
          </a:p>
          <a:p>
            <a:r>
              <a:rPr lang="en-US" sz="2800" dirty="0"/>
              <a:t>large food images, rounded cards and clear call-to-action</a:t>
            </a:r>
          </a:p>
          <a:p>
            <a:r>
              <a:rPr lang="en-US" sz="2800" dirty="0"/>
              <a:t>buttons.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Make the website responsive on mobile, tablet and desktop.</a:t>
            </a:r>
          </a:p>
          <a:p>
            <a:r>
              <a:rPr lang="en-US" sz="2800" dirty="0"/>
              <a:t>The second prompt gives the AI much more information to work with.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519623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42503" b="-7309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036856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49719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978565" y="-830978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9" y="0"/>
                </a:lnTo>
                <a:lnTo>
                  <a:pt x="6435169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252387" y="5143500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8" y="0"/>
                </a:lnTo>
                <a:lnTo>
                  <a:pt x="6435168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5987464" y="1179427"/>
            <a:ext cx="6313072" cy="171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What Is Prompt Engineering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799284" y="3514608"/>
            <a:ext cx="12689432" cy="56015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b="1" dirty="0"/>
              <a:t>Prompt engineering</a:t>
            </a:r>
            <a:r>
              <a:rPr lang="en-US" sz="2800" dirty="0"/>
              <a:t> is the practice of designing and refining prompts to obtain accurate, useful, consistent, and controllable AI-generated results.</a:t>
            </a:r>
          </a:p>
          <a:p>
            <a:r>
              <a:rPr lang="en-US" sz="2800" dirty="0"/>
              <a:t>It is not simply asking AI questions.</a:t>
            </a:r>
          </a:p>
          <a:p>
            <a:r>
              <a:rPr lang="en-US" sz="2800" dirty="0"/>
              <a:t>It involves understanding: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you want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How to describe it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technology should be used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constraints exist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output format you need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the user experience should be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should and should not be included</a:t>
            </a:r>
          </a:p>
          <a:p>
            <a:r>
              <a:rPr lang="en-US" sz="2800" dirty="0"/>
              <a:t>For web design, prompt engineering allows you to communicate your design requirements to AI in a structured way.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66354" y="396625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266700"/>
            <a:ext cx="10179987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Why Prompt Engineering Is Important in Web Design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431" y="2342291"/>
            <a:ext cx="10179987" cy="7325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Traditional web development requires the designer/developer to manually create many parts of a website.</a:t>
            </a:r>
          </a:p>
          <a:p>
            <a:r>
              <a:rPr lang="en-US" sz="2800" dirty="0"/>
              <a:t>With AI assistance, many tasks can be accelerated.</a:t>
            </a:r>
          </a:p>
          <a:p>
            <a:r>
              <a:rPr lang="en-US" sz="2800" dirty="0"/>
              <a:t>For </a:t>
            </a:r>
            <a:r>
              <a:rPr lang="en-US" sz="2800" dirty="0" smtClean="0"/>
              <a:t>example: </a:t>
            </a:r>
            <a:endParaRPr lang="en-US" sz="2800" dirty="0" smtClean="0"/>
          </a:p>
          <a:p>
            <a:pPr algn="ctr"/>
            <a:r>
              <a:rPr lang="en-US" sz="2800" dirty="0" smtClean="0"/>
              <a:t>Idea</a:t>
            </a:r>
          </a:p>
          <a:p>
            <a:pPr algn="ctr"/>
            <a:r>
              <a:rPr lang="en-US" sz="2800" dirty="0" smtClean="0"/>
              <a:t>↓</a:t>
            </a:r>
          </a:p>
          <a:p>
            <a:pPr algn="ctr"/>
            <a:r>
              <a:rPr lang="en-US" sz="2800" dirty="0" smtClean="0"/>
              <a:t>AI Prompt</a:t>
            </a:r>
          </a:p>
          <a:p>
            <a:pPr algn="ctr"/>
            <a:r>
              <a:rPr lang="en-US" sz="2800" dirty="0" smtClean="0"/>
              <a:t>↓</a:t>
            </a:r>
          </a:p>
          <a:p>
            <a:pPr algn="ctr"/>
            <a:r>
              <a:rPr lang="en-US" sz="2800" dirty="0" smtClean="0"/>
              <a:t>AI Output</a:t>
            </a:r>
          </a:p>
          <a:p>
            <a:pPr algn="ctr"/>
            <a:r>
              <a:rPr lang="en-US" sz="2800" dirty="0" smtClean="0"/>
              <a:t>↓</a:t>
            </a:r>
          </a:p>
          <a:p>
            <a:pPr algn="ctr"/>
            <a:r>
              <a:rPr lang="en-US" sz="2800" dirty="0" smtClean="0"/>
              <a:t>Review</a:t>
            </a:r>
          </a:p>
          <a:p>
            <a:pPr algn="ctr"/>
            <a:r>
              <a:rPr lang="en-US" sz="2800" dirty="0" smtClean="0"/>
              <a:t>↓</a:t>
            </a:r>
          </a:p>
          <a:p>
            <a:pPr algn="ctr"/>
            <a:r>
              <a:rPr lang="en-US" sz="2800" dirty="0" smtClean="0"/>
              <a:t>Modify</a:t>
            </a:r>
          </a:p>
          <a:p>
            <a:pPr algn="ctr"/>
            <a:r>
              <a:rPr lang="en-US" sz="2800" dirty="0" smtClean="0"/>
              <a:t>↓</a:t>
            </a:r>
          </a:p>
          <a:p>
            <a:pPr algn="ctr"/>
            <a:r>
              <a:rPr lang="en-US" sz="2800" dirty="0" smtClean="0"/>
              <a:t>Test</a:t>
            </a:r>
          </a:p>
          <a:p>
            <a:pPr algn="ctr"/>
            <a:r>
              <a:rPr lang="en-US" sz="2800" dirty="0" smtClean="0"/>
              <a:t>↓</a:t>
            </a:r>
            <a:endParaRPr lang="en-US" sz="2800" dirty="0"/>
          </a:p>
          <a:p>
            <a:pPr algn="ctr"/>
            <a:r>
              <a:rPr lang="en-US" sz="2800" dirty="0"/>
              <a:t>Final Website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934508" y="5271616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176216" y="5736609"/>
            <a:ext cx="5826204" cy="3445491"/>
            <a:chOff x="0" y="0"/>
            <a:chExt cx="810637" cy="47939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0637" cy="479393"/>
            </a:xfrm>
            <a:custGeom>
              <a:avLst/>
              <a:gdLst/>
              <a:ahLst/>
              <a:cxnLst/>
              <a:rect l="l" t="t" r="r" b="b"/>
              <a:pathLst>
                <a:path w="810637" h="479393">
                  <a:moveTo>
                    <a:pt x="25953" y="0"/>
                  </a:moveTo>
                  <a:lnTo>
                    <a:pt x="784684" y="0"/>
                  </a:lnTo>
                  <a:cubicBezTo>
                    <a:pt x="791567" y="0"/>
                    <a:pt x="798168" y="2734"/>
                    <a:pt x="803036" y="7602"/>
                  </a:cubicBezTo>
                  <a:cubicBezTo>
                    <a:pt x="807903" y="12469"/>
                    <a:pt x="810637" y="19070"/>
                    <a:pt x="810637" y="25953"/>
                  </a:cubicBezTo>
                  <a:lnTo>
                    <a:pt x="810637" y="453440"/>
                  </a:lnTo>
                  <a:cubicBezTo>
                    <a:pt x="810637" y="460323"/>
                    <a:pt x="807903" y="466925"/>
                    <a:pt x="803036" y="471792"/>
                  </a:cubicBezTo>
                  <a:cubicBezTo>
                    <a:pt x="798168" y="476659"/>
                    <a:pt x="791567" y="479393"/>
                    <a:pt x="784684" y="479393"/>
                  </a:cubicBezTo>
                  <a:lnTo>
                    <a:pt x="25953" y="479393"/>
                  </a:lnTo>
                  <a:cubicBezTo>
                    <a:pt x="19070" y="479393"/>
                    <a:pt x="12469" y="476659"/>
                    <a:pt x="7602" y="471792"/>
                  </a:cubicBezTo>
                  <a:cubicBezTo>
                    <a:pt x="2734" y="466925"/>
                    <a:pt x="0" y="460323"/>
                    <a:pt x="0" y="453440"/>
                  </a:cubicBezTo>
                  <a:lnTo>
                    <a:pt x="0" y="25953"/>
                  </a:lnTo>
                  <a:cubicBezTo>
                    <a:pt x="0" y="19070"/>
                    <a:pt x="2734" y="12469"/>
                    <a:pt x="7602" y="7602"/>
                  </a:cubicBezTo>
                  <a:cubicBezTo>
                    <a:pt x="12469" y="2734"/>
                    <a:pt x="19070" y="0"/>
                    <a:pt x="25953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0637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338851" y="5736609"/>
            <a:ext cx="6674043" cy="3445491"/>
            <a:chOff x="0" y="0"/>
            <a:chExt cx="928602" cy="47939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28602" cy="479393"/>
            </a:xfrm>
            <a:custGeom>
              <a:avLst/>
              <a:gdLst/>
              <a:ahLst/>
              <a:cxnLst/>
              <a:rect l="l" t="t" r="r" b="b"/>
              <a:pathLst>
                <a:path w="928602" h="479393">
                  <a:moveTo>
                    <a:pt x="22656" y="0"/>
                  </a:moveTo>
                  <a:lnTo>
                    <a:pt x="905946" y="0"/>
                  </a:lnTo>
                  <a:cubicBezTo>
                    <a:pt x="911955" y="0"/>
                    <a:pt x="917718" y="2387"/>
                    <a:pt x="921966" y="6636"/>
                  </a:cubicBezTo>
                  <a:cubicBezTo>
                    <a:pt x="926215" y="10885"/>
                    <a:pt x="928602" y="16648"/>
                    <a:pt x="928602" y="22656"/>
                  </a:cubicBezTo>
                  <a:lnTo>
                    <a:pt x="928602" y="456737"/>
                  </a:lnTo>
                  <a:cubicBezTo>
                    <a:pt x="928602" y="462746"/>
                    <a:pt x="926215" y="468509"/>
                    <a:pt x="921966" y="472757"/>
                  </a:cubicBezTo>
                  <a:cubicBezTo>
                    <a:pt x="917718" y="477006"/>
                    <a:pt x="911955" y="479393"/>
                    <a:pt x="905946" y="479393"/>
                  </a:cubicBezTo>
                  <a:lnTo>
                    <a:pt x="22656" y="479393"/>
                  </a:lnTo>
                  <a:cubicBezTo>
                    <a:pt x="16648" y="479393"/>
                    <a:pt x="10885" y="477006"/>
                    <a:pt x="6636" y="472757"/>
                  </a:cubicBezTo>
                  <a:cubicBezTo>
                    <a:pt x="2387" y="468509"/>
                    <a:pt x="0" y="462746"/>
                    <a:pt x="0" y="456737"/>
                  </a:cubicBezTo>
                  <a:lnTo>
                    <a:pt x="0" y="22656"/>
                  </a:lnTo>
                  <a:cubicBezTo>
                    <a:pt x="0" y="16648"/>
                    <a:pt x="2387" y="10885"/>
                    <a:pt x="6636" y="6636"/>
                  </a:cubicBezTo>
                  <a:cubicBezTo>
                    <a:pt x="10885" y="2387"/>
                    <a:pt x="16648" y="0"/>
                    <a:pt x="22656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28602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430349" y="5735002"/>
            <a:ext cx="5317938" cy="3447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Without a good prompt: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Vague prompt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Poor output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Many corrections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Wasted time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624803" y="5753100"/>
            <a:ext cx="6102139" cy="3447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With a good prompt: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Detailed prompt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Relevant output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Small corrections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Faster development</a:t>
            </a:r>
          </a:p>
        </p:txBody>
      </p:sp>
      <p:sp>
        <p:nvSpPr>
          <p:cNvPr id="18" name="TextBox 14"/>
          <p:cNvSpPr txBox="1"/>
          <p:nvPr/>
        </p:nvSpPr>
        <p:spPr>
          <a:xfrm>
            <a:off x="1227430" y="266700"/>
            <a:ext cx="10179987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Why Prompt Engineering Is Important in Web Design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2830602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90500"/>
            <a:ext cx="10179987" cy="25614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Prompt Engineering Does Not Replace Web Design Knowledge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431" y="2781300"/>
            <a:ext cx="10179987" cy="7325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This is extremely important.</a:t>
            </a:r>
          </a:p>
          <a:p>
            <a:r>
              <a:rPr lang="en-US" sz="2800" dirty="0"/>
              <a:t>AI can generate code, but a web designer should understand what the code is doing.</a:t>
            </a:r>
          </a:p>
          <a:p>
            <a:r>
              <a:rPr lang="en-US" sz="2800" dirty="0"/>
              <a:t>For example, AI may generate:</a:t>
            </a:r>
          </a:p>
          <a:p>
            <a:r>
              <a:rPr lang="en-US" sz="2800" dirty="0"/>
              <a:t>.container {</a:t>
            </a:r>
          </a:p>
          <a:p>
            <a:r>
              <a:rPr lang="en-US" sz="2800" dirty="0"/>
              <a:t>    display: flex;</a:t>
            </a:r>
          </a:p>
          <a:p>
            <a:r>
              <a:rPr lang="en-US" sz="2800" dirty="0"/>
              <a:t>    justify-content: space-between;</a:t>
            </a:r>
          </a:p>
          <a:p>
            <a:r>
              <a:rPr lang="en-US" sz="2800" dirty="0"/>
              <a:t>}</a:t>
            </a:r>
          </a:p>
          <a:p>
            <a:r>
              <a:rPr lang="en-US" sz="2800" dirty="0"/>
              <a:t>The designer should understand:</a:t>
            </a:r>
          </a:p>
          <a:p>
            <a:pPr lvl="0"/>
            <a:r>
              <a:rPr lang="en-US" sz="2800" dirty="0"/>
              <a:t>What display: flex does</a:t>
            </a:r>
          </a:p>
          <a:p>
            <a:pPr lvl="0"/>
            <a:r>
              <a:rPr lang="en-US" sz="2800" dirty="0"/>
              <a:t>What justify-content does</a:t>
            </a:r>
          </a:p>
          <a:p>
            <a:pPr lvl="0"/>
            <a:r>
              <a:rPr lang="en-US" sz="2800" dirty="0"/>
              <a:t>When </a:t>
            </a:r>
            <a:r>
              <a:rPr lang="en-US" sz="2800" dirty="0" err="1"/>
              <a:t>Flexbox</a:t>
            </a:r>
            <a:r>
              <a:rPr lang="en-US" sz="2800" dirty="0"/>
              <a:t> should be used</a:t>
            </a:r>
          </a:p>
          <a:p>
            <a:pPr lvl="0"/>
            <a:r>
              <a:rPr lang="en-US" sz="2800" dirty="0"/>
              <a:t>How it behaves on mobile</a:t>
            </a:r>
          </a:p>
          <a:p>
            <a:pPr lvl="0"/>
            <a:r>
              <a:rPr lang="en-US" sz="2800" dirty="0"/>
              <a:t>Whether the layout is appropriate</a:t>
            </a:r>
          </a:p>
          <a:p>
            <a:r>
              <a:rPr lang="en-US" sz="2800" dirty="0"/>
              <a:t>Therefore:</a:t>
            </a:r>
          </a:p>
          <a:p>
            <a:r>
              <a:rPr lang="en-US" sz="2800" b="1" dirty="0"/>
              <a:t>AI should be treated as an assistant, not as a replacement for web design knowledge.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7521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11633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A good web design prompt can contain several important components.</a:t>
            </a:r>
          </a:p>
          <a:p>
            <a:r>
              <a:rPr lang="en-US" sz="3600" dirty="0">
                <a:solidFill>
                  <a:schemeClr val="bg1"/>
                </a:solidFill>
              </a:rPr>
              <a:t>A useful structure is:</a:t>
            </a:r>
          </a:p>
          <a:p>
            <a:r>
              <a:rPr lang="en-US" sz="3600" dirty="0">
                <a:solidFill>
                  <a:schemeClr val="bg1"/>
                </a:solidFill>
              </a:rPr>
              <a:t>ROLE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TASK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PROJECT CONTEXT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TECHNOLOGY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DESIGN </a:t>
            </a:r>
            <a:r>
              <a:rPr lang="en-US" sz="3600" dirty="0" smtClean="0">
                <a:solidFill>
                  <a:schemeClr val="bg1"/>
                </a:solidFill>
              </a:rPr>
              <a:t>REQUIREMENTS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  <a:endParaRPr lang="en-US" sz="3600" dirty="0" smtClean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FUNCTIONAL REQUIREMENTS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RESPONSIVENESS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CONSTRAINTS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OUTPUT FORMAT</a:t>
            </a:r>
          </a:p>
          <a:p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11079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</a:rPr>
              <a:t>For </a:t>
            </a:r>
            <a:r>
              <a:rPr lang="en-US" sz="3600" dirty="0">
                <a:solidFill>
                  <a:schemeClr val="bg1"/>
                </a:solidFill>
              </a:rPr>
              <a:t>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Act as a professional UI/UX designer and frontend developer.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modern landing page for a digital payment platform.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Technology: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HTML5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CSS3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Bootstrap 5</a:t>
            </a:r>
          </a:p>
          <a:p>
            <a:pPr marL="571500" indent="-571500">
              <a:buFontTx/>
              <a:buChar char="-"/>
            </a:pPr>
            <a:r>
              <a:rPr lang="en-US" sz="3600" dirty="0" smtClean="0">
                <a:solidFill>
                  <a:schemeClr val="bg1"/>
                </a:solidFill>
              </a:rPr>
              <a:t>JavaScript</a:t>
            </a:r>
          </a:p>
          <a:p>
            <a:pPr marL="571500" indent="-571500">
              <a:buFontTx/>
              <a:buChar char="-"/>
            </a:pPr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Design: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Modern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Professional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Clean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Mobile-first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Minimal</a:t>
            </a:r>
          </a:p>
          <a:p>
            <a:endParaRPr lang="en-US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534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8309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Sections: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</a:t>
            </a:r>
            <a:r>
              <a:rPr lang="en-US" sz="3600" dirty="0" err="1">
                <a:solidFill>
                  <a:schemeClr val="bg1"/>
                </a:solidFill>
              </a:rPr>
              <a:t>Navbar</a:t>
            </a:r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- Hero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Services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Features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Testimonials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FAQ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CTA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Footer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The website must be responsive on mobile, tablet and desktop.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Return the complete HTML, CSS and JavaScript code.</a:t>
            </a:r>
          </a:p>
        </p:txBody>
      </p:sp>
    </p:spTree>
    <p:extLst>
      <p:ext uri="{BB962C8B-B14F-4D97-AF65-F5344CB8AC3E}">
        <p14:creationId xmlns:p14="http://schemas.microsoft.com/office/powerpoint/2010/main" val="129710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9677400" y="1179427"/>
            <a:ext cx="745781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The Role in a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6401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A </a:t>
            </a:r>
            <a:r>
              <a:rPr lang="en-US" sz="3200" b="1" dirty="0"/>
              <a:t>role</a:t>
            </a:r>
            <a:r>
              <a:rPr lang="en-US" sz="3200" dirty="0"/>
              <a:t> tells the AI what type of expert you want it to behave like.</a:t>
            </a:r>
          </a:p>
          <a:p>
            <a:r>
              <a:rPr lang="en-US" sz="3200" dirty="0"/>
              <a:t>For example:</a:t>
            </a:r>
          </a:p>
          <a:p>
            <a:r>
              <a:rPr lang="en-US" sz="3200" dirty="0"/>
              <a:t>Act as a professional web designer.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senior frontend developer.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UI/UX designer specializing in modern </a:t>
            </a:r>
            <a:r>
              <a:rPr lang="en-US" sz="3200" dirty="0" err="1"/>
              <a:t>SaaS</a:t>
            </a:r>
            <a:r>
              <a:rPr lang="en-US" sz="3200" dirty="0"/>
              <a:t> websites.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senior Bootstrap developer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9677400" y="1179427"/>
            <a:ext cx="745781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The Role in a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b="1" dirty="0"/>
              <a:t>Why roles are useful</a:t>
            </a:r>
            <a:endParaRPr lang="en-US" sz="3200" dirty="0"/>
          </a:p>
          <a:p>
            <a:r>
              <a:rPr lang="en-US" sz="3200" dirty="0"/>
              <a:t>A role provides context.</a:t>
            </a:r>
          </a:p>
          <a:p>
            <a:r>
              <a:rPr lang="en-US" sz="3200" dirty="0"/>
              <a:t>Compare:</a:t>
            </a:r>
          </a:p>
          <a:p>
            <a:r>
              <a:rPr lang="en-US" sz="3200" dirty="0"/>
              <a:t>Create a dashboard.</a:t>
            </a:r>
          </a:p>
          <a:p>
            <a:r>
              <a:rPr lang="en-US" sz="3200" dirty="0"/>
              <a:t>with:</a:t>
            </a:r>
          </a:p>
          <a:p>
            <a:r>
              <a:rPr lang="en-US" sz="3200" dirty="0"/>
              <a:t>Act as a senior UI/UX designer and frontend developer.</a:t>
            </a:r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Design a professional admin dashboard for an e-commerce platform.</a:t>
            </a:r>
          </a:p>
          <a:p>
            <a:r>
              <a:rPr lang="en-US" sz="3200" dirty="0"/>
              <a:t>The second prompt establishes the expected expertise and context.</a:t>
            </a:r>
          </a:p>
        </p:txBody>
      </p:sp>
    </p:spTree>
    <p:extLst>
      <p:ext uri="{BB962C8B-B14F-4D97-AF65-F5344CB8AC3E}">
        <p14:creationId xmlns:p14="http://schemas.microsoft.com/office/powerpoint/2010/main" val="538753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24906" b="-24906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990179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50093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697199" y="1028700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768924" y="6446453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088290" y="2059966"/>
            <a:ext cx="6111420" cy="86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Defining the Task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242061" y="3217336"/>
            <a:ext cx="9411629" cy="66787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/>
              <a:t>The task tells AI exactly what you want it to accomplish.</a:t>
            </a:r>
          </a:p>
          <a:p>
            <a:r>
              <a:rPr lang="en-US" sz="2800" dirty="0"/>
              <a:t>Examples: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Create a landing page.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Generate the HTML structure for this design.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Convert this design into Bootstrap 5.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Make this website responsive.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Improve the navigation bar.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Debug this JavaScript code.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Create a dashboard UI</a:t>
            </a:r>
            <a:r>
              <a:rPr lang="en-US" sz="2800" dirty="0" smtClean="0"/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A task should be specific.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3757609" y="2102898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9448800" y="1179427"/>
            <a:ext cx="6581941" cy="1015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6600" b="1" dirty="0"/>
              <a:t>Providing Context</a:t>
            </a:r>
            <a:endParaRPr lang="en-US" sz="6600" dirty="0"/>
          </a:p>
        </p:txBody>
      </p:sp>
      <p:sp>
        <p:nvSpPr>
          <p:cNvPr id="14" name="TextBox 14"/>
          <p:cNvSpPr txBox="1"/>
          <p:nvPr/>
        </p:nvSpPr>
        <p:spPr>
          <a:xfrm>
            <a:off x="7873865" y="2628900"/>
            <a:ext cx="9261351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Context explains what the project is about.</a:t>
            </a:r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 smtClean="0"/>
              <a:t>“I </a:t>
            </a:r>
            <a:r>
              <a:rPr lang="en-US" sz="3200" dirty="0"/>
              <a:t>am building a digital services platform where users can</a:t>
            </a:r>
          </a:p>
          <a:p>
            <a:r>
              <a:rPr lang="en-US" sz="3200" dirty="0"/>
              <a:t>purchase airtime, data, TV subscriptions and other digital services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This is much better than simply saying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 smtClean="0"/>
              <a:t>“Create </a:t>
            </a:r>
            <a:r>
              <a:rPr lang="en-US" sz="3200" dirty="0"/>
              <a:t>a dashboard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The AI now understands the type of application it is designing.</a:t>
            </a:r>
          </a:p>
        </p:txBody>
      </p:sp>
    </p:spTree>
    <p:extLst>
      <p:ext uri="{BB962C8B-B14F-4D97-AF65-F5344CB8AC3E}">
        <p14:creationId xmlns:p14="http://schemas.microsoft.com/office/powerpoint/2010/main" val="273967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8686801" y="1179427"/>
            <a:ext cx="8448416" cy="17150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Target Users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2857500"/>
            <a:ext cx="9261351" cy="4739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A good prompt can describe who will use the website.</a:t>
            </a:r>
          </a:p>
          <a:p>
            <a:r>
              <a:rPr lang="en-US" sz="2800" dirty="0"/>
              <a:t>For example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 smtClean="0"/>
              <a:t>“The </a:t>
            </a:r>
            <a:r>
              <a:rPr lang="en-US" sz="2800" dirty="0"/>
              <a:t>website is designed for Nigerian university students</a:t>
            </a:r>
          </a:p>
          <a:p>
            <a:r>
              <a:rPr lang="en-US" sz="2800" dirty="0"/>
              <a:t>between the ages of 18 and 30</a:t>
            </a:r>
            <a:r>
              <a:rPr lang="en-US" sz="2800" dirty="0" smtClean="0"/>
              <a:t>.”</a:t>
            </a:r>
          </a:p>
          <a:p>
            <a:endParaRPr lang="en-US" sz="2800" dirty="0"/>
          </a:p>
          <a:p>
            <a:r>
              <a:rPr lang="en-US" sz="2800" dirty="0"/>
              <a:t>Or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 smtClean="0"/>
              <a:t>“The </a:t>
            </a:r>
            <a:r>
              <a:rPr lang="en-US" sz="2800" dirty="0"/>
              <a:t>dashboard will be used by business owners who may not</a:t>
            </a:r>
          </a:p>
          <a:p>
            <a:r>
              <a:rPr lang="en-US" sz="2800" dirty="0"/>
              <a:t>have technical knowledge</a:t>
            </a:r>
            <a:r>
              <a:rPr lang="en-US" sz="2800" dirty="0" smtClean="0"/>
              <a:t>.”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409506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696200" y="1959641"/>
            <a:ext cx="871240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00" b="1" dirty="0"/>
              <a:t>Specifying the Target Users</a:t>
            </a:r>
            <a:endParaRPr lang="en-US" sz="600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719929" y="3314700"/>
            <a:ext cx="8282071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/>
              <a:t>This can influence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Navigation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Language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Typography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Layout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Button labels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Complexity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User experience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022858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086600" y="1249645"/>
            <a:ext cx="988835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Technology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2247900"/>
            <a:ext cx="10245622" cy="8309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Always specify the technology when it matters.</a:t>
            </a:r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HTML5</a:t>
            </a:r>
          </a:p>
          <a:p>
            <a:r>
              <a:rPr lang="en-US" sz="3200" dirty="0"/>
              <a:t>- CSS3</a:t>
            </a:r>
          </a:p>
          <a:p>
            <a:r>
              <a:rPr lang="en-US" sz="3200" dirty="0"/>
              <a:t>- Bootstrap 5</a:t>
            </a:r>
          </a:p>
          <a:p>
            <a:pPr marL="457200" indent="-457200">
              <a:buFontTx/>
              <a:buChar char="-"/>
            </a:pPr>
            <a:r>
              <a:rPr lang="en-US" sz="3200" dirty="0" smtClean="0"/>
              <a:t>Vanilla JavaScript</a:t>
            </a:r>
          </a:p>
          <a:p>
            <a:pPr marL="457200" indent="-457200">
              <a:buFontTx/>
              <a:buChar char="-"/>
            </a:pPr>
            <a:endParaRPr lang="en-US" sz="3200" dirty="0"/>
          </a:p>
          <a:p>
            <a:r>
              <a:rPr lang="en-US" sz="3200" dirty="0" smtClean="0"/>
              <a:t>Or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React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Vite</a:t>
            </a:r>
            <a:endParaRPr lang="en-US" sz="3200" dirty="0"/>
          </a:p>
          <a:p>
            <a:r>
              <a:rPr lang="en-US" sz="3200" dirty="0"/>
              <a:t>- Tailwind CSS</a:t>
            </a:r>
          </a:p>
          <a:p>
            <a:pPr marL="457200" indent="-457200">
              <a:buFontTx/>
              <a:buChar char="-"/>
            </a:pPr>
            <a:r>
              <a:rPr lang="en-US" sz="3200" dirty="0" smtClean="0"/>
              <a:t>React Router</a:t>
            </a:r>
          </a:p>
          <a:p>
            <a:endParaRPr lang="en-US" sz="2800" dirty="0"/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841370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42503" b="-7309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036856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49719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978565" y="-830978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9" y="0"/>
                </a:lnTo>
                <a:lnTo>
                  <a:pt x="6435169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252387" y="5143500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8" y="0"/>
                </a:lnTo>
                <a:lnTo>
                  <a:pt x="6435168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3124200" y="1179427"/>
            <a:ext cx="917633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the Technology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799284" y="2400300"/>
            <a:ext cx="12689432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Or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PHP</a:t>
            </a:r>
          </a:p>
          <a:p>
            <a:r>
              <a:rPr lang="en-US" sz="3200" dirty="0"/>
              <a:t>- MySQL</a:t>
            </a:r>
          </a:p>
          <a:p>
            <a:r>
              <a:rPr lang="en-US" sz="3200" dirty="0"/>
              <a:t>- Bootstrap</a:t>
            </a:r>
          </a:p>
          <a:p>
            <a:r>
              <a:rPr lang="en-US" sz="3200" dirty="0"/>
              <a:t>- JavaScript</a:t>
            </a:r>
          </a:p>
          <a:p>
            <a:r>
              <a:rPr lang="en-US" sz="3200" dirty="0"/>
              <a:t>Without specifying the technology, AI may choose a framework you don't want.</a:t>
            </a:r>
          </a:p>
        </p:txBody>
      </p:sp>
    </p:spTree>
    <p:extLst>
      <p:ext uri="{BB962C8B-B14F-4D97-AF65-F5344CB8AC3E}">
        <p14:creationId xmlns:p14="http://schemas.microsoft.com/office/powerpoint/2010/main" val="3155933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176216" y="3339275"/>
            <a:ext cx="5826204" cy="4776026"/>
            <a:chOff x="0" y="0"/>
            <a:chExt cx="810637" cy="47939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0637" cy="479393"/>
            </a:xfrm>
            <a:custGeom>
              <a:avLst/>
              <a:gdLst/>
              <a:ahLst/>
              <a:cxnLst/>
              <a:rect l="l" t="t" r="r" b="b"/>
              <a:pathLst>
                <a:path w="810637" h="479393">
                  <a:moveTo>
                    <a:pt x="25953" y="0"/>
                  </a:moveTo>
                  <a:lnTo>
                    <a:pt x="784684" y="0"/>
                  </a:lnTo>
                  <a:cubicBezTo>
                    <a:pt x="791567" y="0"/>
                    <a:pt x="798168" y="2734"/>
                    <a:pt x="803036" y="7602"/>
                  </a:cubicBezTo>
                  <a:cubicBezTo>
                    <a:pt x="807903" y="12469"/>
                    <a:pt x="810637" y="19070"/>
                    <a:pt x="810637" y="25953"/>
                  </a:cubicBezTo>
                  <a:lnTo>
                    <a:pt x="810637" y="453440"/>
                  </a:lnTo>
                  <a:cubicBezTo>
                    <a:pt x="810637" y="460323"/>
                    <a:pt x="807903" y="466925"/>
                    <a:pt x="803036" y="471792"/>
                  </a:cubicBezTo>
                  <a:cubicBezTo>
                    <a:pt x="798168" y="476659"/>
                    <a:pt x="791567" y="479393"/>
                    <a:pt x="784684" y="479393"/>
                  </a:cubicBezTo>
                  <a:lnTo>
                    <a:pt x="25953" y="479393"/>
                  </a:lnTo>
                  <a:cubicBezTo>
                    <a:pt x="19070" y="479393"/>
                    <a:pt x="12469" y="476659"/>
                    <a:pt x="7602" y="471792"/>
                  </a:cubicBezTo>
                  <a:cubicBezTo>
                    <a:pt x="2734" y="466925"/>
                    <a:pt x="0" y="460323"/>
                    <a:pt x="0" y="453440"/>
                  </a:cubicBezTo>
                  <a:lnTo>
                    <a:pt x="0" y="25953"/>
                  </a:lnTo>
                  <a:cubicBezTo>
                    <a:pt x="0" y="19070"/>
                    <a:pt x="2734" y="12469"/>
                    <a:pt x="7602" y="7602"/>
                  </a:cubicBezTo>
                  <a:cubicBezTo>
                    <a:pt x="12469" y="2734"/>
                    <a:pt x="19070" y="0"/>
                    <a:pt x="25953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0637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338851" y="3339274"/>
            <a:ext cx="6674043" cy="4776027"/>
            <a:chOff x="0" y="0"/>
            <a:chExt cx="928602" cy="47939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28602" cy="479393"/>
            </a:xfrm>
            <a:custGeom>
              <a:avLst/>
              <a:gdLst/>
              <a:ahLst/>
              <a:cxnLst/>
              <a:rect l="l" t="t" r="r" b="b"/>
              <a:pathLst>
                <a:path w="928602" h="479393">
                  <a:moveTo>
                    <a:pt x="22656" y="0"/>
                  </a:moveTo>
                  <a:lnTo>
                    <a:pt x="905946" y="0"/>
                  </a:lnTo>
                  <a:cubicBezTo>
                    <a:pt x="911955" y="0"/>
                    <a:pt x="917718" y="2387"/>
                    <a:pt x="921966" y="6636"/>
                  </a:cubicBezTo>
                  <a:cubicBezTo>
                    <a:pt x="926215" y="10885"/>
                    <a:pt x="928602" y="16648"/>
                    <a:pt x="928602" y="22656"/>
                  </a:cubicBezTo>
                  <a:lnTo>
                    <a:pt x="928602" y="456737"/>
                  </a:lnTo>
                  <a:cubicBezTo>
                    <a:pt x="928602" y="462746"/>
                    <a:pt x="926215" y="468509"/>
                    <a:pt x="921966" y="472757"/>
                  </a:cubicBezTo>
                  <a:cubicBezTo>
                    <a:pt x="917718" y="477006"/>
                    <a:pt x="911955" y="479393"/>
                    <a:pt x="905946" y="479393"/>
                  </a:cubicBezTo>
                  <a:lnTo>
                    <a:pt x="22656" y="479393"/>
                  </a:lnTo>
                  <a:cubicBezTo>
                    <a:pt x="16648" y="479393"/>
                    <a:pt x="10885" y="477006"/>
                    <a:pt x="6636" y="472757"/>
                  </a:cubicBezTo>
                  <a:cubicBezTo>
                    <a:pt x="2387" y="468509"/>
                    <a:pt x="0" y="462746"/>
                    <a:pt x="0" y="456737"/>
                  </a:cubicBezTo>
                  <a:lnTo>
                    <a:pt x="0" y="22656"/>
                  </a:lnTo>
                  <a:cubicBezTo>
                    <a:pt x="0" y="16648"/>
                    <a:pt x="2387" y="10885"/>
                    <a:pt x="6636" y="6636"/>
                  </a:cubicBezTo>
                  <a:cubicBezTo>
                    <a:pt x="10885" y="2387"/>
                    <a:pt x="16648" y="0"/>
                    <a:pt x="22656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28602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172909"/>
            <a:ext cx="1017998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Design Style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430349" y="3630454"/>
            <a:ext cx="5317938" cy="409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Examples</a:t>
            </a:r>
            <a:r>
              <a:rPr lang="en-US" sz="2800" dirty="0" smtClean="0">
                <a:solidFill>
                  <a:schemeClr val="bg1"/>
                </a:solidFill>
              </a:rPr>
              <a:t>: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Modern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Professional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Minimal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Elegant</a:t>
            </a:r>
          </a:p>
          <a:p>
            <a:pPr>
              <a:lnSpc>
                <a:spcPct val="150000"/>
              </a:lnSpc>
            </a:pPr>
            <a:r>
              <a:rPr lang="en-US" sz="2800" dirty="0" smtClean="0">
                <a:solidFill>
                  <a:schemeClr val="bg1"/>
                </a:solidFill>
              </a:rPr>
              <a:t>Corporate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624803" y="3929777"/>
            <a:ext cx="6102139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Luxury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Playful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Creative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Futuristic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Clean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Tech-focused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7431" y="2476500"/>
            <a:ext cx="10179987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Describe the visual style you want</a:t>
            </a:r>
            <a:r>
              <a:rPr lang="en-US" sz="2800" dirty="0" smtClean="0"/>
              <a:t>.</a:t>
            </a:r>
            <a:endParaRPr lang="en-US" sz="2800" dirty="0"/>
          </a:p>
        </p:txBody>
      </p:sp>
      <p:sp>
        <p:nvSpPr>
          <p:cNvPr id="18" name="TextBox 17"/>
          <p:cNvSpPr txBox="1"/>
          <p:nvPr/>
        </p:nvSpPr>
        <p:spPr>
          <a:xfrm>
            <a:off x="1295400" y="8522613"/>
            <a:ext cx="10179987" cy="1292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You can combine styles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/>
              <a:t>Create a modern, clean and professional </a:t>
            </a:r>
            <a:r>
              <a:rPr lang="en-US" sz="2800" dirty="0" err="1"/>
              <a:t>fintech</a:t>
            </a:r>
            <a:r>
              <a:rPr lang="en-US" sz="2800" dirty="0"/>
              <a:t> interface.</a:t>
            </a:r>
          </a:p>
        </p:txBody>
      </p:sp>
    </p:spTree>
    <p:extLst>
      <p:ext uri="{BB962C8B-B14F-4D97-AF65-F5344CB8AC3E}">
        <p14:creationId xmlns:p14="http://schemas.microsoft.com/office/powerpoint/2010/main" val="309069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90500"/>
            <a:ext cx="1017998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Colors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431" y="2781300"/>
            <a:ext cx="10179987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Colors can be included in the prompt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 a blue and white color scheme with dark gray text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Or more specifically:</a:t>
            </a:r>
          </a:p>
          <a:p>
            <a:r>
              <a:rPr lang="en-US" sz="3200" dirty="0"/>
              <a:t>Primary color: #2563EB</a:t>
            </a:r>
          </a:p>
          <a:p>
            <a:r>
              <a:rPr lang="en-US" sz="3200" dirty="0"/>
              <a:t>Secondary color: #0F172A</a:t>
            </a:r>
          </a:p>
          <a:p>
            <a:r>
              <a:rPr lang="en-US" sz="3200" dirty="0"/>
              <a:t>Background: #F8FAFC</a:t>
            </a:r>
          </a:p>
          <a:p>
            <a:r>
              <a:rPr lang="en-US" sz="3200" dirty="0"/>
              <a:t>Text: #</a:t>
            </a:r>
            <a:r>
              <a:rPr lang="en-US" sz="3200" dirty="0" smtClean="0"/>
              <a:t>1E293B</a:t>
            </a:r>
          </a:p>
          <a:p>
            <a:endParaRPr lang="en-US" sz="3200" dirty="0"/>
          </a:p>
          <a:p>
            <a:r>
              <a:rPr lang="en-US" sz="3200" dirty="0"/>
              <a:t>Specific color requirements give AI more control over the final design.</a:t>
            </a:r>
          </a:p>
        </p:txBody>
      </p:sp>
    </p:spTree>
    <p:extLst>
      <p:ext uri="{BB962C8B-B14F-4D97-AF65-F5344CB8AC3E}">
        <p14:creationId xmlns:p14="http://schemas.microsoft.com/office/powerpoint/2010/main" val="1965915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Typography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6647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You can tell AI what type of typography you want.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 a clean sans-serif font.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Large bold headings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Medium-sized subheadings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Comfortable body text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Clear line spacing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You can also specify a font: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 Inter as the primary font.</a:t>
            </a:r>
          </a:p>
        </p:txBody>
      </p:sp>
    </p:spTree>
    <p:extLst>
      <p:ext uri="{BB962C8B-B14F-4D97-AF65-F5344CB8AC3E}">
        <p14:creationId xmlns:p14="http://schemas.microsoft.com/office/powerpoint/2010/main" val="838352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b="1" dirty="0"/>
              <a:t>Specifying Layout</a:t>
            </a:r>
            <a:endParaRPr lang="en-US" sz="6600" dirty="0"/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886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Describe how the website should be arranged.</a:t>
            </a:r>
          </a:p>
          <a:p>
            <a:r>
              <a:rPr lang="en-US" sz="3600" dirty="0">
                <a:solidFill>
                  <a:schemeClr val="bg1"/>
                </a:solidFill>
              </a:rPr>
              <a:t>For 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two-column hero section.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Left side: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Heading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Description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CTA buttons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Right side: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Product illustration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Floating feature cards</a:t>
            </a:r>
          </a:p>
          <a:p>
            <a:r>
              <a:rPr lang="en-US" sz="3600" dirty="0">
                <a:solidFill>
                  <a:schemeClr val="bg1"/>
                </a:solidFill>
              </a:rPr>
              <a:t>Instead of: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hero section.</a:t>
            </a:r>
          </a:p>
          <a:p>
            <a:r>
              <a:rPr lang="en-US" sz="3600" dirty="0">
                <a:solidFill>
                  <a:schemeClr val="bg1"/>
                </a:solidFill>
              </a:rPr>
              <a:t>The detailed version gives AI a clearer layout.</a:t>
            </a:r>
          </a:p>
        </p:txBody>
      </p:sp>
    </p:spTree>
    <p:extLst>
      <p:ext uri="{BB962C8B-B14F-4D97-AF65-F5344CB8AC3E}">
        <p14:creationId xmlns:p14="http://schemas.microsoft.com/office/powerpoint/2010/main" val="3840528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400800" y="1179427"/>
            <a:ext cx="1073441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Website Sections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2812137"/>
            <a:ext cx="8409932" cy="9417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Tell AI exactly what sections you want.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For 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Include: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1. Navigation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2. Hero</a:t>
            </a:r>
          </a:p>
          <a:p>
            <a:r>
              <a:rPr lang="en-US" sz="3600" dirty="0">
                <a:solidFill>
                  <a:schemeClr val="bg1"/>
                </a:solidFill>
              </a:rPr>
              <a:t>3. Services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4. Features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5. How It Works</a:t>
            </a:r>
          </a:p>
          <a:p>
            <a:r>
              <a:rPr lang="en-US" sz="3600" dirty="0">
                <a:solidFill>
                  <a:schemeClr val="bg1"/>
                </a:solidFill>
              </a:rPr>
              <a:t>6. Testimonials</a:t>
            </a:r>
          </a:p>
          <a:p>
            <a:r>
              <a:rPr lang="en-US" sz="3600" dirty="0">
                <a:solidFill>
                  <a:schemeClr val="bg1"/>
                </a:solidFill>
              </a:rPr>
              <a:t>7. Pricing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8. FAQ</a:t>
            </a:r>
          </a:p>
          <a:p>
            <a:r>
              <a:rPr lang="en-US" sz="3600" dirty="0">
                <a:solidFill>
                  <a:schemeClr val="bg1"/>
                </a:solidFill>
              </a:rPr>
              <a:t>9. Call-to-action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10. </a:t>
            </a:r>
            <a:r>
              <a:rPr lang="en-US" sz="3600" dirty="0" smtClean="0">
                <a:solidFill>
                  <a:schemeClr val="bg1"/>
                </a:solidFill>
              </a:rPr>
              <a:t>Footer</a:t>
            </a:r>
          </a:p>
          <a:p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This reduces the chance that important sections will be forgotten.</a:t>
            </a:r>
          </a:p>
        </p:txBody>
      </p:sp>
    </p:spTree>
    <p:extLst>
      <p:ext uri="{BB962C8B-B14F-4D97-AF65-F5344CB8AC3E}">
        <p14:creationId xmlns:p14="http://schemas.microsoft.com/office/powerpoint/2010/main" val="4262552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8229600" y="1179427"/>
            <a:ext cx="890561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 smtClean="0"/>
              <a:t>Specifying </a:t>
            </a:r>
            <a:r>
              <a:rPr lang="en-US" sz="6600" b="1" dirty="0"/>
              <a:t>Components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You can ask AI to create specific UI components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Examples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Create a responsive </a:t>
            </a:r>
            <a:r>
              <a:rPr lang="en-US" sz="3200" dirty="0" err="1"/>
              <a:t>navbar</a:t>
            </a:r>
            <a:r>
              <a:rPr lang="en-US" sz="3200" dirty="0"/>
              <a:t>.</a:t>
            </a:r>
          </a:p>
          <a:p>
            <a:r>
              <a:rPr lang="en-US" sz="3200" dirty="0"/>
              <a:t>Create a product card.</a:t>
            </a:r>
          </a:p>
          <a:p>
            <a:r>
              <a:rPr lang="en-US" sz="3200" dirty="0"/>
              <a:t>Create a pricing card.</a:t>
            </a:r>
          </a:p>
          <a:p>
            <a:r>
              <a:rPr lang="en-US" sz="3200" dirty="0"/>
              <a:t>Create a login form.</a:t>
            </a:r>
          </a:p>
          <a:p>
            <a:r>
              <a:rPr lang="en-US" sz="3200" dirty="0"/>
              <a:t>Create a responsive admin sidebar.</a:t>
            </a:r>
          </a:p>
          <a:p>
            <a:r>
              <a:rPr lang="en-US" sz="3200" dirty="0"/>
              <a:t>Create a modal for confirming transactions</a:t>
            </a:r>
            <a:r>
              <a:rPr lang="en-US" sz="3200" dirty="0" smtClean="0"/>
              <a:t>.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998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9903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415229" y="419100"/>
            <a:ext cx="9719987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User Interactions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81800" y="1420177"/>
            <a:ext cx="11201400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dirty="0"/>
              <a:t>A web design prompt should describe how users should interact with the interface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  <a:endParaRPr lang="en-US" sz="3200" dirty="0"/>
          </a:p>
          <a:p>
            <a:r>
              <a:rPr lang="en-US" sz="3200" dirty="0" smtClean="0"/>
              <a:t>“When </a:t>
            </a:r>
            <a:r>
              <a:rPr lang="en-US" sz="3200" dirty="0"/>
              <a:t>the user clicks the hamburger icon,</a:t>
            </a:r>
          </a:p>
          <a:p>
            <a:r>
              <a:rPr lang="en-US" sz="3200" dirty="0"/>
              <a:t>open the mobile navigation menu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When the menu is open, clicking outside the menu should close it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Another example</a:t>
            </a:r>
            <a:r>
              <a:rPr lang="en-US" sz="3200" dirty="0" smtClean="0"/>
              <a:t>:</a:t>
            </a:r>
            <a:endParaRPr lang="en-US" sz="3200" dirty="0"/>
          </a:p>
          <a:p>
            <a:r>
              <a:rPr lang="en-US" sz="3200" dirty="0" smtClean="0"/>
              <a:t>“When </a:t>
            </a:r>
            <a:r>
              <a:rPr lang="en-US" sz="3200" dirty="0"/>
              <a:t>the user submits the form,</a:t>
            </a:r>
          </a:p>
          <a:p>
            <a:r>
              <a:rPr lang="en-US" sz="3200" dirty="0"/>
              <a:t>validate all required fields and display appropriate</a:t>
            </a:r>
          </a:p>
          <a:p>
            <a:r>
              <a:rPr lang="en-US" sz="3200" dirty="0"/>
              <a:t>error messages below the fields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This moves the prompt from static design into interactive design.</a:t>
            </a:r>
          </a:p>
        </p:txBody>
      </p:sp>
    </p:spTree>
    <p:extLst>
      <p:ext uri="{BB962C8B-B14F-4D97-AF65-F5344CB8AC3E}">
        <p14:creationId xmlns:p14="http://schemas.microsoft.com/office/powerpoint/2010/main" val="2275011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24906" b="-24906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990179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50093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697199" y="1028700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768924" y="6446453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690" y="342900"/>
            <a:ext cx="1143771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Responsive Behavior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676400" y="1409700"/>
            <a:ext cx="11760941" cy="78790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dirty="0"/>
              <a:t>Don't simply say:</a:t>
            </a:r>
          </a:p>
          <a:p>
            <a:r>
              <a:rPr lang="en-US" sz="3200" dirty="0" smtClean="0"/>
              <a:t>“Make </a:t>
            </a:r>
            <a:r>
              <a:rPr lang="en-US" sz="3200" dirty="0"/>
              <a:t>it responsive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Be more specific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example:</a:t>
            </a:r>
          </a:p>
          <a:p>
            <a:r>
              <a:rPr lang="en-US" sz="3200" dirty="0"/>
              <a:t>Desktop:</a:t>
            </a:r>
          </a:p>
          <a:p>
            <a:r>
              <a:rPr lang="en-US" sz="3200" dirty="0"/>
              <a:t>- Four product cards per row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Tablet:</a:t>
            </a:r>
          </a:p>
          <a:p>
            <a:r>
              <a:rPr lang="en-US" sz="3200" dirty="0"/>
              <a:t>- Two product cards per row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Mobile:</a:t>
            </a:r>
          </a:p>
          <a:p>
            <a:r>
              <a:rPr lang="en-US" sz="3200" dirty="0"/>
              <a:t>- One product card per row.</a:t>
            </a:r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The navigation should collapse into a hamburger menu</a:t>
            </a:r>
          </a:p>
          <a:p>
            <a:r>
              <a:rPr lang="en-US" sz="3200" dirty="0"/>
              <a:t>on screens below 768px.</a:t>
            </a:r>
          </a:p>
          <a:p>
            <a:r>
              <a:rPr lang="en-US" sz="3200" dirty="0"/>
              <a:t>This gives AI concrete responsive rules.</a:t>
            </a:r>
          </a:p>
        </p:txBody>
      </p:sp>
    </p:spTree>
    <p:extLst>
      <p:ext uri="{BB962C8B-B14F-4D97-AF65-F5344CB8AC3E}">
        <p14:creationId xmlns:p14="http://schemas.microsoft.com/office/powerpoint/2010/main" val="2797996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9067801" y="1179427"/>
            <a:ext cx="806741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Accessibility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2399347"/>
            <a:ext cx="9261351" cy="6401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Accessibility can also be included in your prompt.</a:t>
            </a:r>
          </a:p>
          <a:p>
            <a:r>
              <a:rPr lang="en-US" sz="3200" dirty="0"/>
              <a:t>Example:</a:t>
            </a:r>
          </a:p>
          <a:p>
            <a:r>
              <a:rPr lang="en-US" sz="3200" dirty="0"/>
              <a:t>Follow basic web accessibility best practices.</a:t>
            </a:r>
          </a:p>
          <a:p>
            <a:r>
              <a:rPr lang="en-US" sz="3200" dirty="0"/>
              <a:t> </a:t>
            </a:r>
          </a:p>
          <a:p>
            <a:r>
              <a:rPr lang="en-US" sz="3200" dirty="0"/>
              <a:t>Requirements:</a:t>
            </a:r>
          </a:p>
          <a:p>
            <a:r>
              <a:rPr lang="en-US" sz="3200" dirty="0"/>
              <a:t>- Use semantic HTML</a:t>
            </a:r>
          </a:p>
          <a:p>
            <a:r>
              <a:rPr lang="en-US" sz="3200" dirty="0"/>
              <a:t>- Add alt text to images</a:t>
            </a:r>
          </a:p>
          <a:p>
            <a:r>
              <a:rPr lang="en-US" sz="3200" dirty="0"/>
              <a:t>- Use labels for form inputs</a:t>
            </a:r>
          </a:p>
          <a:p>
            <a:r>
              <a:rPr lang="en-US" sz="3200" dirty="0"/>
              <a:t>- Ensure buttons are keyboard accessible</a:t>
            </a:r>
          </a:p>
          <a:p>
            <a:r>
              <a:rPr lang="en-US" sz="3200" dirty="0"/>
              <a:t>- Maintain sufficient color contrast</a:t>
            </a:r>
          </a:p>
          <a:p>
            <a:r>
              <a:rPr lang="en-US" sz="3200" dirty="0"/>
              <a:t>- Use meaningful link text</a:t>
            </a:r>
          </a:p>
          <a:p>
            <a:r>
              <a:rPr lang="en-US" sz="3200" dirty="0"/>
              <a:t>This encourages AI to produce more accessible websites.</a:t>
            </a:r>
          </a:p>
        </p:txBody>
      </p:sp>
    </p:spTree>
    <p:extLst>
      <p:ext uri="{BB962C8B-B14F-4D97-AF65-F5344CB8AC3E}">
        <p14:creationId xmlns:p14="http://schemas.microsoft.com/office/powerpoint/2010/main" val="4259961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597773" y="1179427"/>
            <a:ext cx="10537443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SEO Requirements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2324100"/>
            <a:ext cx="926135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You can ask AI to consider SEO.</a:t>
            </a:r>
          </a:p>
          <a:p>
            <a:r>
              <a:rPr lang="en-US" sz="3200" dirty="0"/>
              <a:t>Example:</a:t>
            </a:r>
          </a:p>
          <a:p>
            <a:r>
              <a:rPr lang="en-US" sz="3200" dirty="0"/>
              <a:t>Optimize the page structure for SEO.</a:t>
            </a:r>
          </a:p>
          <a:p>
            <a:r>
              <a:rPr lang="en-US" sz="3200" dirty="0"/>
              <a:t> </a:t>
            </a:r>
          </a:p>
          <a:p>
            <a:r>
              <a:rPr lang="en-US" sz="3200" dirty="0"/>
              <a:t>Requirements:</a:t>
            </a:r>
          </a:p>
          <a:p>
            <a:r>
              <a:rPr lang="en-US" sz="3200" dirty="0"/>
              <a:t>- Use one H1</a:t>
            </a:r>
          </a:p>
          <a:p>
            <a:r>
              <a:rPr lang="en-US" sz="3200" dirty="0"/>
              <a:t>- Use logical H2 and H3 headings</a:t>
            </a:r>
          </a:p>
          <a:p>
            <a:r>
              <a:rPr lang="en-US" sz="3200" dirty="0"/>
              <a:t>- Add a descriptive title</a:t>
            </a:r>
          </a:p>
          <a:p>
            <a:r>
              <a:rPr lang="en-US" sz="3200" dirty="0"/>
              <a:t>- Add a meta description</a:t>
            </a:r>
          </a:p>
          <a:p>
            <a:r>
              <a:rPr lang="en-US" sz="3200" dirty="0"/>
              <a:t>- Use semantic HTML</a:t>
            </a:r>
          </a:p>
          <a:p>
            <a:r>
              <a:rPr lang="en-US" sz="3200" dirty="0"/>
              <a:t>- Add descriptive alt text</a:t>
            </a:r>
          </a:p>
        </p:txBody>
      </p:sp>
    </p:spTree>
    <p:extLst>
      <p:ext uri="{BB962C8B-B14F-4D97-AF65-F5344CB8AC3E}">
        <p14:creationId xmlns:p14="http://schemas.microsoft.com/office/powerpoint/2010/main" val="903346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5758958" y="1959641"/>
            <a:ext cx="12148042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00" b="1" dirty="0"/>
              <a:t>Specifying Performance Requirements</a:t>
            </a:r>
            <a:endParaRPr lang="en-US" sz="600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3162300"/>
            <a:ext cx="10245622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You can also tell AI to optimize performance.</a:t>
            </a:r>
          </a:p>
          <a:p>
            <a:r>
              <a:rPr lang="en-US" sz="3200" dirty="0"/>
              <a:t>Example:</a:t>
            </a:r>
          </a:p>
          <a:p>
            <a:r>
              <a:rPr lang="en-US" sz="3200" dirty="0"/>
              <a:t>Optimize the website for performance.</a:t>
            </a:r>
          </a:p>
          <a:p>
            <a:r>
              <a:rPr lang="en-US" sz="3200" dirty="0"/>
              <a:t> </a:t>
            </a:r>
          </a:p>
          <a:p>
            <a:r>
              <a:rPr lang="en-US" sz="3200" dirty="0"/>
              <a:t>Requirements:</a:t>
            </a:r>
          </a:p>
          <a:p>
            <a:r>
              <a:rPr lang="en-US" sz="3200" dirty="0"/>
              <a:t>- Avoid unnecessary JavaScript</a:t>
            </a:r>
          </a:p>
          <a:p>
            <a:r>
              <a:rPr lang="en-US" sz="3200" dirty="0"/>
              <a:t>- Use responsive images</a:t>
            </a:r>
          </a:p>
          <a:p>
            <a:r>
              <a:rPr lang="en-US" sz="3200" dirty="0"/>
              <a:t>- Lazy-load images where appropriate</a:t>
            </a:r>
          </a:p>
          <a:p>
            <a:r>
              <a:rPr lang="en-US" sz="3200" dirty="0"/>
              <a:t>- Avoid excessive animations</a:t>
            </a:r>
          </a:p>
          <a:p>
            <a:r>
              <a:rPr lang="en-US" sz="3200" dirty="0"/>
              <a:t>- Keep CSS organized</a:t>
            </a:r>
          </a:p>
          <a:p>
            <a:r>
              <a:rPr lang="en-US" sz="3200" dirty="0"/>
              <a:t>- Avoid unnecessary external libraries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368068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6929871" y="1249645"/>
            <a:ext cx="10045079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Code Structure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2324100"/>
            <a:ext cx="10245622" cy="7325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When asking AI to generate code, specify how you want it organized.</a:t>
            </a:r>
          </a:p>
          <a:p>
            <a:r>
              <a:rPr lang="en-US" sz="2800" dirty="0"/>
              <a:t>For example:</a:t>
            </a:r>
          </a:p>
          <a:p>
            <a:r>
              <a:rPr lang="en-US" sz="2800" dirty="0"/>
              <a:t>Separate the project into: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index.html</a:t>
            </a:r>
          </a:p>
          <a:p>
            <a:r>
              <a:rPr lang="en-US" sz="2800" dirty="0" err="1"/>
              <a:t>css</a:t>
            </a:r>
            <a:r>
              <a:rPr lang="en-US" sz="2800" dirty="0"/>
              <a:t>/style.css</a:t>
            </a:r>
          </a:p>
          <a:p>
            <a:r>
              <a:rPr lang="en-US" sz="2800" dirty="0" err="1"/>
              <a:t>js</a:t>
            </a:r>
            <a:r>
              <a:rPr lang="en-US" sz="2800" dirty="0"/>
              <a:t>/script.js</a:t>
            </a:r>
          </a:p>
          <a:p>
            <a:r>
              <a:rPr lang="en-US" sz="2800" dirty="0"/>
              <a:t>images/</a:t>
            </a:r>
          </a:p>
          <a:p>
            <a:r>
              <a:rPr lang="en-US" sz="2800" dirty="0"/>
              <a:t>Or:</a:t>
            </a:r>
          </a:p>
          <a:p>
            <a:r>
              <a:rPr lang="en-US" sz="2800" dirty="0"/>
              <a:t>Create separate React components for: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 err="1"/>
              <a:t>Navbar</a:t>
            </a:r>
            <a:endParaRPr lang="en-US" sz="2800" dirty="0"/>
          </a:p>
          <a:p>
            <a:r>
              <a:rPr lang="en-US" sz="2800" dirty="0"/>
              <a:t>Hero</a:t>
            </a:r>
          </a:p>
          <a:p>
            <a:r>
              <a:rPr lang="en-US" sz="2800" dirty="0"/>
              <a:t>Services</a:t>
            </a:r>
          </a:p>
          <a:p>
            <a:r>
              <a:rPr lang="en-US" sz="2800" dirty="0"/>
              <a:t>Testimonials</a:t>
            </a:r>
          </a:p>
          <a:p>
            <a:r>
              <a:rPr lang="en-US" sz="2800" dirty="0"/>
              <a:t>Footer</a:t>
            </a:r>
          </a:p>
          <a:p>
            <a:r>
              <a:rPr lang="en-US" sz="2800" dirty="0"/>
              <a:t>This makes the generated project easier to maintain.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7870842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42503" b="-7309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036856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49719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978565" y="-830978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9" y="0"/>
                </a:lnTo>
                <a:lnTo>
                  <a:pt x="6435169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252387" y="5143500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8" y="0"/>
                </a:lnTo>
                <a:lnTo>
                  <a:pt x="6435168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5987464" y="1179427"/>
            <a:ext cx="6313072" cy="171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Output Format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799284" y="3514608"/>
            <a:ext cx="12689432" cy="4739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AI needs to know how you want the result presented.</a:t>
            </a:r>
          </a:p>
          <a:p>
            <a:r>
              <a:rPr lang="en-US" sz="2800" dirty="0"/>
              <a:t>For example:</a:t>
            </a:r>
          </a:p>
          <a:p>
            <a:r>
              <a:rPr lang="en-US" sz="2800" dirty="0"/>
              <a:t>Return the result as: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1. HTML</a:t>
            </a:r>
          </a:p>
          <a:p>
            <a:r>
              <a:rPr lang="en-US" sz="2800" dirty="0"/>
              <a:t>2. CSS</a:t>
            </a:r>
          </a:p>
          <a:p>
            <a:r>
              <a:rPr lang="en-US" sz="2800" dirty="0"/>
              <a:t>3. JavaScript</a:t>
            </a:r>
          </a:p>
          <a:p>
            <a:r>
              <a:rPr lang="en-US" sz="2800" dirty="0"/>
              <a:t>Or:</a:t>
            </a:r>
          </a:p>
          <a:p>
            <a:r>
              <a:rPr lang="en-US" sz="2800" dirty="0"/>
              <a:t>Provide each file separately using code blocks.</a:t>
            </a:r>
          </a:p>
          <a:p>
            <a:r>
              <a:rPr lang="en-US" sz="2800" dirty="0"/>
              <a:t>Or:</a:t>
            </a:r>
          </a:p>
          <a:p>
            <a:r>
              <a:rPr lang="en-US" sz="2800" dirty="0"/>
              <a:t>Explain the code first, then provide the complete code.</a:t>
            </a:r>
          </a:p>
        </p:txBody>
      </p:sp>
    </p:spTree>
    <p:extLst>
      <p:ext uri="{BB962C8B-B14F-4D97-AF65-F5344CB8AC3E}">
        <p14:creationId xmlns:p14="http://schemas.microsoft.com/office/powerpoint/2010/main" val="25186723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2077703" y="3366867"/>
            <a:ext cx="9460517" cy="946051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68318" y="-2824047"/>
            <a:ext cx="3852747" cy="385274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6851686" y="2858315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349506" y="-30861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-1292181" y="-648104"/>
            <a:ext cx="5791604" cy="579160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682247" y="3376392"/>
            <a:ext cx="7052696" cy="4125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45"/>
              </a:lnSpc>
            </a:pPr>
            <a:r>
              <a:rPr lang="en-US" sz="14260" b="1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THANK YOU</a:t>
            </a:r>
          </a:p>
        </p:txBody>
      </p:sp>
      <p:sp>
        <p:nvSpPr>
          <p:cNvPr id="15" name="Freeform 15"/>
          <p:cNvSpPr/>
          <p:nvPr/>
        </p:nvSpPr>
        <p:spPr>
          <a:xfrm>
            <a:off x="-3031172" y="2417472"/>
            <a:ext cx="5134435" cy="4555644"/>
          </a:xfrm>
          <a:custGeom>
            <a:avLst/>
            <a:gdLst/>
            <a:ahLst/>
            <a:cxnLst/>
            <a:rect l="l" t="t" r="r" b="b"/>
            <a:pathLst>
              <a:path w="5134435" h="4555644">
                <a:moveTo>
                  <a:pt x="0" y="0"/>
                </a:moveTo>
                <a:lnTo>
                  <a:pt x="5134434" y="0"/>
                </a:lnTo>
                <a:lnTo>
                  <a:pt x="5134434" y="4555643"/>
                </a:lnTo>
                <a:lnTo>
                  <a:pt x="0" y="45556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1543</Words>
  <Application>Microsoft Office PowerPoint</Application>
  <PresentationFormat>Custom</PresentationFormat>
  <Paragraphs>447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Calibri</vt:lpstr>
      <vt:lpstr>Poppins Bold</vt:lpstr>
      <vt:lpstr>Poppins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Modern Minimalist Website Development Project Presentation</dc:title>
  <dc:creator>USER</dc:creator>
  <cp:lastModifiedBy>USER</cp:lastModifiedBy>
  <cp:revision>27</cp:revision>
  <dcterms:created xsi:type="dcterms:W3CDTF">2006-08-16T00:00:00Z</dcterms:created>
  <dcterms:modified xsi:type="dcterms:W3CDTF">2026-08-28T09:28:37Z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6650FB3C1DA74534B1503C7696D3FB20_13</vt:lpwstr>
  </property>
</Properties>
</file>